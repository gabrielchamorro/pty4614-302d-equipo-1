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70" r:id="rId1"/>
    <p:sldMasterId id="2147483671" r:id="rId2"/>
  </p:sldMasterIdLst>
  <p:notesMasterIdLst>
    <p:notesMasterId r:id="rId19"/>
  </p:notesMasterIdLst>
  <p:sldIdLst>
    <p:sldId id="256" r:id="rId3"/>
    <p:sldId id="257" r:id="rId4"/>
    <p:sldId id="258" r:id="rId5"/>
    <p:sldId id="259" r:id="rId6"/>
    <p:sldId id="260" r:id="rId7"/>
    <p:sldId id="271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1367302-EA69-4F30-A0BA-64FC08861BDE}">
  <a:tblStyle styleId="{C1367302-EA69-4F30-A0BA-64FC08861BD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s-CL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h7310adb69bc04e0d_3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7" name="Google Shape;127;h7310adb69bc04e0d_3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h7310adb69bc04e0d_3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6" name="Google Shape;136;h7310adb69bc04e0d_3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7310adb69bc04e0d_3_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" name="Google Shape;156;h7310adb69bc04e0d_3_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h7310adb69bc04e0d_3_13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h7310adb69bc04e0d_3_13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h7310adb69bc04e0d_3_1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h7310adb69bc04e0d_3_1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h7310adb69bc04e0d_3_1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7" name="Google Shape;207;h7310adb69bc04e0d_3_1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h7310adb69bc04e0d_3_20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8" name="Google Shape;248;h7310adb69bc04e0d_3_20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h7310adb69bc04e0d_3_38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9" name="Google Shape;429;h7310adb69bc04e0d_3_38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h7310adb69bc04e0d_0_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  <p:sp>
        <p:nvSpPr>
          <p:cNvPr id="440" name="Google Shape;440;h7310adb69bc04e0d_0_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h7310adb69bc04e0d_3_3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7" name="Google Shape;447;h7310adb69bc04e0d_3_3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h7310adb69bc04e0d_3_4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57" name="Google Shape;457;h7310adb69bc04e0d_3_4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h7310adb69bc04e0d_3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h7310adb69bc04e0d_3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0" name="Google Shape;520;h7310adb69bc04e0d_3_46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h7310adb69bc04e0d_3_46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" name="Google Shape;552;h7310adb69bc04e0d_3_48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3" name="Google Shape;553;h7310adb69bc04e0d_3_48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h7310adb69bc04e0d_3_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7" name="Google Shape;577;h7310adb69bc04e0d_3_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s-CL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apositiva de título" type="title">
  <p:cSld name="TITLE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4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1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65" name="Google Shape;65;p15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5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cabezado de sección" type="secHead">
  <p:cSld name="SECTION_HEADER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6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6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6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os objetos" type="twoObj">
  <p:cSld name="TWO_OBJECTS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7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7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7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7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ación" type="twoTxTwoObj">
  <p:cSld name="TWO_OBJECTS_WITH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8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8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4" name="Google Shape;84;p18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86" name="Google Shape;86;p18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87" name="Google Shape;87;p18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olo el título" type="titleOnly">
  <p:cSld name="TITLE_ONLY"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2" name="Google Shape;92;p19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9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4" name="Google Shape;94;p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 blanco" type="blank">
  <p:cSld name="BLANK"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7" name="Google Shape;97;p20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98" name="Google Shape;98;p20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ido con título" type="objTx">
  <p:cSld name="OBJECT_WITH_CAPTION_TEXT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1" name="Google Shape;101;p21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102" name="Google Shape;102;p21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03" name="Google Shape;103;p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4" name="Google Shape;104;p2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21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Imagen con título" type="picTx">
  <p:cSld name="PICTURE_WITH_CAPTION_TEXT"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22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109" name="Google Shape;109;p22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110" name="Google Shape;110;p2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texto vertical" type="vertTx">
  <p:cSld name="VERTICAL_TEXT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23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16" name="Google Shape;116;p2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2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18" name="Google Shape;118;p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vertical y texto" type="vertTitleAndTx">
  <p:cSld name="VERTICAL_TITLE_AND_VERTICAL_TEXT"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1" name="Google Shape;121;p24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4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2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Ovr>
    <a:masterClrMapping/>
  </p:clrMapOvr>
  <p:transition spd="slow">
    <p:fade thruBlk="1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52" name="Google Shape;52;p13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1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4" name="Google Shape;54;p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transition spd="slow">
    <p:fade thruBlk="1"/>
  </p:transition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ángulo: esquinas redondeadas 2">
            <a:extLst>
              <a:ext uri="{FF2B5EF4-FFF2-40B4-BE49-F238E27FC236}">
                <a16:creationId xmlns:a16="http://schemas.microsoft.com/office/drawing/2014/main" id="{3D006D09-814F-1188-06A6-414AC17E32B1}"/>
              </a:ext>
            </a:extLst>
          </p:cNvPr>
          <p:cNvSpPr/>
          <p:nvPr/>
        </p:nvSpPr>
        <p:spPr>
          <a:xfrm>
            <a:off x="1611599" y="1284494"/>
            <a:ext cx="5869856" cy="821397"/>
          </a:xfrm>
          <a:prstGeom prst="roundRect">
            <a:avLst/>
          </a:prstGeom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129" name="Google Shape;129;p2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18397" y="371323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25"/>
          <p:cNvSpPr txBox="1"/>
          <p:nvPr/>
        </p:nvSpPr>
        <p:spPr>
          <a:xfrm>
            <a:off x="1661318" y="1414361"/>
            <a:ext cx="5770417" cy="561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3200" b="1" i="0" u="none" strike="noStrike" cap="none" dirty="0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PRESENTACIÓN CAPSTONE</a:t>
            </a:r>
            <a:endParaRPr sz="3200" dirty="0"/>
          </a:p>
        </p:txBody>
      </p:sp>
      <p:sp>
        <p:nvSpPr>
          <p:cNvPr id="131" name="Google Shape;131;p25"/>
          <p:cNvSpPr txBox="1"/>
          <p:nvPr/>
        </p:nvSpPr>
        <p:spPr>
          <a:xfrm>
            <a:off x="2068799" y="2198894"/>
            <a:ext cx="5006400" cy="57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 i="0" u="none" strike="noStrike" cap="none" dirty="0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Plataforma Web de Gestión Operativa,</a:t>
            </a:r>
            <a:br>
              <a:rPr lang="es-419" sz="1400" b="0" i="0" u="none" strike="noStrike" cap="none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600" b="1" i="0" u="none" strike="noStrike" cap="none" dirty="0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Trazabilidad de Tareas y Monitoreo Espacial</a:t>
            </a:r>
            <a:endParaRPr sz="1100" dirty="0"/>
          </a:p>
        </p:txBody>
      </p:sp>
      <p:sp>
        <p:nvSpPr>
          <p:cNvPr id="132" name="Google Shape;132;p25"/>
          <p:cNvSpPr txBox="1"/>
          <p:nvPr/>
        </p:nvSpPr>
        <p:spPr>
          <a:xfrm>
            <a:off x="2811742" y="4677970"/>
            <a:ext cx="3497700" cy="23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0" i="0" u="none" strike="noStrike" cap="none">
                <a:solidFill>
                  <a:srgbClr val="646C74"/>
                </a:solidFill>
                <a:latin typeface="Arial"/>
                <a:ea typeface="Arial"/>
                <a:cs typeface="Arial"/>
                <a:sym typeface="Arial"/>
              </a:rPr>
              <a:t>Duoc UC · Ingeniería en Informática · 2026</a:t>
            </a:r>
            <a:endParaRPr sz="1100"/>
          </a:p>
        </p:txBody>
      </p:sp>
      <p:pic>
        <p:nvPicPr>
          <p:cNvPr id="133" name="Google Shape;133;p25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61438" y="2944606"/>
            <a:ext cx="3421123" cy="1140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6"/>
          <p:cNvSpPr/>
          <p:nvPr/>
        </p:nvSpPr>
        <p:spPr>
          <a:xfrm>
            <a:off x="418327" y="1474470"/>
            <a:ext cx="650968" cy="2263140"/>
          </a:xfrm>
          <a:prstGeom prst="rect">
            <a:avLst/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6"/>
          <p:cNvSpPr/>
          <p:nvPr/>
        </p:nvSpPr>
        <p:spPr>
          <a:xfrm>
            <a:off x="3236746" y="1474470"/>
            <a:ext cx="595284" cy="2263140"/>
          </a:xfrm>
          <a:prstGeom prst="rect">
            <a:avLst/>
          </a:prstGeom>
          <a:solidFill>
            <a:srgbClr val="E897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6"/>
          <p:cNvSpPr/>
          <p:nvPr/>
        </p:nvSpPr>
        <p:spPr>
          <a:xfrm>
            <a:off x="6054631" y="1474470"/>
            <a:ext cx="650968" cy="2263140"/>
          </a:xfrm>
          <a:prstGeom prst="rect">
            <a:avLst/>
          </a:prstGeom>
          <a:solidFill>
            <a:srgbClr val="23825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8" name="Google Shape;138;p2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6"/>
          <p:cNvSpPr txBox="1"/>
          <p:nvPr/>
        </p:nvSpPr>
        <p:spPr>
          <a:xfrm>
            <a:off x="2117554" y="695325"/>
            <a:ext cx="49089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INTEGRANTES DEL PROYECTO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40" name="Google Shape;140;p26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41" name="Google Shape;141;p26"/>
          <p:cNvSpPr/>
          <p:nvPr/>
        </p:nvSpPr>
        <p:spPr>
          <a:xfrm>
            <a:off x="514350" y="1474470"/>
            <a:ext cx="2571750" cy="226314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6"/>
          <p:cNvSpPr txBox="1"/>
          <p:nvPr/>
        </p:nvSpPr>
        <p:spPr>
          <a:xfrm>
            <a:off x="637794" y="1556766"/>
            <a:ext cx="236601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Gabriel Nicolás Chamorro Ortega</a:t>
            </a:r>
            <a:endParaRPr sz="1100"/>
          </a:p>
        </p:txBody>
      </p:sp>
      <p:sp>
        <p:nvSpPr>
          <p:cNvPr id="144" name="Google Shape;144;p26"/>
          <p:cNvSpPr txBox="1"/>
          <p:nvPr/>
        </p:nvSpPr>
        <p:spPr>
          <a:xfrm>
            <a:off x="637794" y="1935076"/>
            <a:ext cx="2352300" cy="114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Scrum Master · Backend &amp; Base de Datos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Servicios REST en Spring Boot, persistencia MySQL, seguridad e inmutabilidad.</a:t>
            </a:r>
            <a:endParaRPr sz="1100"/>
          </a:p>
        </p:txBody>
      </p:sp>
      <p:sp>
        <p:nvSpPr>
          <p:cNvPr id="145" name="Google Shape;145;p26"/>
          <p:cNvSpPr/>
          <p:nvPr/>
        </p:nvSpPr>
        <p:spPr>
          <a:xfrm>
            <a:off x="3332907" y="1474470"/>
            <a:ext cx="2571900" cy="2239184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6"/>
          <p:cNvSpPr txBox="1"/>
          <p:nvPr/>
        </p:nvSpPr>
        <p:spPr>
          <a:xfrm>
            <a:off x="3504437" y="1556766"/>
            <a:ext cx="23661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419" sz="1200" b="1" dirty="0">
                <a:solidFill>
                  <a:srgbClr val="1D2E46"/>
                </a:solidFill>
              </a:rPr>
              <a:t>Jorge Salas </a:t>
            </a:r>
            <a:endParaRPr sz="1100" dirty="0"/>
          </a:p>
        </p:txBody>
      </p:sp>
      <p:sp>
        <p:nvSpPr>
          <p:cNvPr id="148" name="Google Shape;148;p26"/>
          <p:cNvSpPr txBox="1"/>
          <p:nvPr/>
        </p:nvSpPr>
        <p:spPr>
          <a:xfrm>
            <a:off x="3504437" y="2183052"/>
            <a:ext cx="2352300" cy="80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Frontend · Interfaz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Componentes React, Tailwind CSS, mapa de constelación y navegación.</a:t>
            </a:r>
            <a:endParaRPr sz="1100"/>
          </a:p>
        </p:txBody>
      </p:sp>
      <p:sp>
        <p:nvSpPr>
          <p:cNvPr id="149" name="Google Shape;149;p26"/>
          <p:cNvSpPr/>
          <p:nvPr/>
        </p:nvSpPr>
        <p:spPr>
          <a:xfrm>
            <a:off x="6150654" y="1474470"/>
            <a:ext cx="2571900" cy="223920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6"/>
          <p:cNvSpPr txBox="1"/>
          <p:nvPr/>
        </p:nvSpPr>
        <p:spPr>
          <a:xfrm>
            <a:off x="6274099" y="1556766"/>
            <a:ext cx="2366100" cy="43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s-419" sz="1200" b="1">
                <a:solidFill>
                  <a:srgbClr val="1D2E46"/>
                </a:solidFill>
              </a:rPr>
              <a:t>Diego Arias</a:t>
            </a:r>
            <a:endParaRPr sz="1100">
              <a:solidFill>
                <a:schemeClr val="dk1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/>
          </a:p>
        </p:txBody>
      </p:sp>
      <p:sp>
        <p:nvSpPr>
          <p:cNvPr id="152" name="Google Shape;152;p26"/>
          <p:cNvSpPr txBox="1"/>
          <p:nvPr/>
        </p:nvSpPr>
        <p:spPr>
          <a:xfrm>
            <a:off x="6274099" y="1831086"/>
            <a:ext cx="2352294" cy="1837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Calidad · QA · Seguridad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Matriz de pruebas, seguridad, gestión de hallazgos y repositorio GitHub.</a:t>
            </a:r>
            <a:endParaRPr sz="1100"/>
          </a:p>
        </p:txBody>
      </p:sp>
      <p:pic>
        <p:nvPicPr>
          <p:cNvPr id="153" name="Google Shape;153;p26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5" y="270350"/>
            <a:ext cx="1078492" cy="3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7"/>
          <p:cNvSpPr/>
          <p:nvPr/>
        </p:nvSpPr>
        <p:spPr>
          <a:xfrm>
            <a:off x="384047" y="1405889"/>
            <a:ext cx="552106" cy="2708910"/>
          </a:xfrm>
          <a:prstGeom prst="rect">
            <a:avLst/>
          </a:prstGeom>
          <a:solidFill>
            <a:srgbClr val="B042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27"/>
          <p:cNvSpPr/>
          <p:nvPr/>
        </p:nvSpPr>
        <p:spPr>
          <a:xfrm>
            <a:off x="4567427" y="1405889"/>
            <a:ext cx="552106" cy="2708910"/>
          </a:xfrm>
          <a:prstGeom prst="rect">
            <a:avLst/>
          </a:prstGeom>
          <a:solidFill>
            <a:srgbClr val="23825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8" name="Google Shape;158;p2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7"/>
          <p:cNvSpPr txBox="1"/>
          <p:nvPr/>
        </p:nvSpPr>
        <p:spPr>
          <a:xfrm>
            <a:off x="0" y="825806"/>
            <a:ext cx="9144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DESCRIPCIÓN DEL PROYECTO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0" name="Google Shape;160;p27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61" name="Google Shape;161;p27"/>
          <p:cNvSpPr/>
          <p:nvPr/>
        </p:nvSpPr>
        <p:spPr>
          <a:xfrm>
            <a:off x="4092677" y="2802193"/>
            <a:ext cx="855406" cy="567813"/>
          </a:xfrm>
          <a:prstGeom prst="rightArrow">
            <a:avLst>
              <a:gd name="adj1" fmla="val 50000"/>
              <a:gd name="adj2" fmla="val 50000"/>
            </a:avLst>
          </a:prstGeom>
          <a:solidFill>
            <a:schemeClr val="accent1"/>
          </a:solidFill>
          <a:ln w="12700" cap="flat" cmpd="sng">
            <a:solidFill>
              <a:srgbClr val="1C305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27"/>
          <p:cNvSpPr/>
          <p:nvPr/>
        </p:nvSpPr>
        <p:spPr>
          <a:xfrm>
            <a:off x="480060" y="1405889"/>
            <a:ext cx="4011930" cy="270891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7"/>
          <p:cNvSpPr txBox="1"/>
          <p:nvPr/>
        </p:nvSpPr>
        <p:spPr>
          <a:xfrm>
            <a:off x="603503" y="1488186"/>
            <a:ext cx="380619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Problema o dolor</a:t>
            </a:r>
            <a:endParaRPr sz="1100"/>
          </a:p>
        </p:txBody>
      </p:sp>
      <p:sp>
        <p:nvSpPr>
          <p:cNvPr id="165" name="Google Shape;165;p27"/>
          <p:cNvSpPr txBox="1"/>
          <p:nvPr/>
        </p:nvSpPr>
        <p:spPr>
          <a:xfrm>
            <a:off x="603503" y="1762506"/>
            <a:ext cx="3792473" cy="2283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La información operativa puede quedar dispersa entre jornadas, tareas, bitácoras y comunicaciones. Esto dificulta conocer la disponibilidad del equipo, mantener trazabilidad del trabajo y proteger registros ya cerrados frente a cambios no autorizados.</a:t>
            </a:r>
            <a:endParaRPr sz="1100"/>
          </a:p>
        </p:txBody>
      </p:sp>
      <p:sp>
        <p:nvSpPr>
          <p:cNvPr id="166" name="Google Shape;166;p27"/>
          <p:cNvSpPr/>
          <p:nvPr/>
        </p:nvSpPr>
        <p:spPr>
          <a:xfrm>
            <a:off x="4663440" y="1405889"/>
            <a:ext cx="4011930" cy="270891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27"/>
          <p:cNvSpPr txBox="1"/>
          <p:nvPr/>
        </p:nvSpPr>
        <p:spPr>
          <a:xfrm>
            <a:off x="4786884" y="1488186"/>
            <a:ext cx="380619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Propuesta de solución</a:t>
            </a:r>
            <a:endParaRPr sz="1100"/>
          </a:p>
        </p:txBody>
      </p:sp>
      <p:sp>
        <p:nvSpPr>
          <p:cNvPr id="169" name="Google Shape;169;p27"/>
          <p:cNvSpPr txBox="1"/>
          <p:nvPr/>
        </p:nvSpPr>
        <p:spPr>
          <a:xfrm>
            <a:off x="4786884" y="1762506"/>
            <a:ext cx="3792473" cy="22837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100" b="0">
                <a:solidFill>
                  <a:srgbClr val="222222"/>
                </a:solidFill>
                <a:latin typeface="Arial"/>
              </a:rPr>
              <a:t>TimeFlow centraliza asistencia, tareas simultáneas, bitácoras, evidencias, aprobación, monitoreo visual y comunicación para trabajadores y administradores. La solución incorpora control de acceso por roles, validaciones en backend e inmutabilidad de tareas aprobadas.</a:t>
            </a:r>
            <a:endParaRPr sz="1100"/>
          </a:p>
        </p:txBody>
      </p:sp>
      <p:sp>
        <p:nvSpPr>
          <p:cNvPr id="170" name="Google Shape;170;p27"/>
          <p:cNvSpPr/>
          <p:nvPr/>
        </p:nvSpPr>
        <p:spPr>
          <a:xfrm>
            <a:off x="2743199" y="4286250"/>
            <a:ext cx="3532909" cy="567812"/>
          </a:xfrm>
          <a:prstGeom prst="roundRect">
            <a:avLst>
              <a:gd name="adj" fmla="val 16667"/>
            </a:avLst>
          </a:prstGeom>
          <a:solidFill>
            <a:srgbClr val="1D2E4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27"/>
          <p:cNvSpPr txBox="1"/>
          <p:nvPr/>
        </p:nvSpPr>
        <p:spPr>
          <a:xfrm>
            <a:off x="3183070" y="4305076"/>
            <a:ext cx="2674620" cy="5447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500" b="1" dirty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23 historias · 7 módulos · 94 SP</a:t>
            </a:r>
            <a:endParaRPr sz="1500" dirty="0"/>
          </a:p>
        </p:txBody>
      </p:sp>
      <p:pic>
        <p:nvPicPr>
          <p:cNvPr id="172" name="Google Shape;172;p27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5" y="270350"/>
            <a:ext cx="1078492" cy="3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8"/>
          <p:cNvSpPr/>
          <p:nvPr/>
        </p:nvSpPr>
        <p:spPr>
          <a:xfrm>
            <a:off x="384047" y="1371600"/>
            <a:ext cx="587503" cy="2914650"/>
          </a:xfrm>
          <a:prstGeom prst="rect">
            <a:avLst/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/>
          <p:nvPr/>
        </p:nvSpPr>
        <p:spPr>
          <a:xfrm>
            <a:off x="3984497" y="1371600"/>
            <a:ext cx="587503" cy="2914650"/>
          </a:xfrm>
          <a:prstGeom prst="rect">
            <a:avLst/>
          </a:prstGeom>
          <a:solidFill>
            <a:srgbClr val="E897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7" name="Google Shape;177;p2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8" name="Google Shape;178;p28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79" name="Google Shape;179;p28"/>
          <p:cNvSpPr/>
          <p:nvPr/>
        </p:nvSpPr>
        <p:spPr>
          <a:xfrm>
            <a:off x="480060" y="1371600"/>
            <a:ext cx="3429000" cy="29146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28"/>
          <p:cNvSpPr txBox="1"/>
          <p:nvPr/>
        </p:nvSpPr>
        <p:spPr>
          <a:xfrm>
            <a:off x="603503" y="1453896"/>
            <a:ext cx="322326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Objetivo general</a:t>
            </a:r>
            <a:endParaRPr sz="1100"/>
          </a:p>
        </p:txBody>
      </p:sp>
      <p:sp>
        <p:nvSpPr>
          <p:cNvPr id="182" name="Google Shape;182;p28"/>
          <p:cNvSpPr txBox="1"/>
          <p:nvPr/>
        </p:nvSpPr>
        <p:spPr>
          <a:xfrm>
            <a:off x="603503" y="1728216"/>
            <a:ext cx="3209544" cy="248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Implementar y certificar TimeFlow como una plataforma web para gestionar jornada laboral, tareas, trazabilidad y monitoreo espacial, con seguridad por roles y criterios de calidad verificables.</a:t>
            </a:r>
            <a:endParaRPr sz="1100"/>
          </a:p>
        </p:txBody>
      </p:sp>
      <p:sp>
        <p:nvSpPr>
          <p:cNvPr id="183" name="Google Shape;183;p28"/>
          <p:cNvSpPr/>
          <p:nvPr/>
        </p:nvSpPr>
        <p:spPr>
          <a:xfrm>
            <a:off x="4080510" y="1371600"/>
            <a:ext cx="4594860" cy="29146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28"/>
          <p:cNvSpPr txBox="1"/>
          <p:nvPr/>
        </p:nvSpPr>
        <p:spPr>
          <a:xfrm>
            <a:off x="4203954" y="1453896"/>
            <a:ext cx="438912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Objetivos específicos</a:t>
            </a:r>
            <a:endParaRPr sz="1100"/>
          </a:p>
        </p:txBody>
      </p:sp>
      <p:sp>
        <p:nvSpPr>
          <p:cNvPr id="186" name="Google Shape;186;p28"/>
          <p:cNvSpPr txBox="1"/>
          <p:nvPr/>
        </p:nvSpPr>
        <p:spPr>
          <a:xfrm>
            <a:off x="4203954" y="1728216"/>
            <a:ext cx="4375404" cy="24894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Implementar y certificar las 23 historias de usuario de los 7 módulos.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Cumplir el plan académico de 18 semanas y 7 Sprints.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Verificar fluidez del mapa con hasta 100 nodos.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Evitar accesos no autorizados y alteración de datos aprobados.</a:t>
            </a:r>
            <a:endParaRPr sz="1100"/>
          </a:p>
        </p:txBody>
      </p:sp>
      <p:sp>
        <p:nvSpPr>
          <p:cNvPr id="187" name="Google Shape;187;p28"/>
          <p:cNvSpPr txBox="1"/>
          <p:nvPr/>
        </p:nvSpPr>
        <p:spPr>
          <a:xfrm>
            <a:off x="445770" y="809244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Objetivos del proyecto</a:t>
            </a:r>
            <a:endParaRPr sz="1100"/>
          </a:p>
        </p:txBody>
      </p:sp>
      <p:pic>
        <p:nvPicPr>
          <p:cNvPr id="188" name="Google Shape;188;p28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5" y="270350"/>
            <a:ext cx="1078492" cy="3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9"/>
          <p:cNvSpPr/>
          <p:nvPr/>
        </p:nvSpPr>
        <p:spPr>
          <a:xfrm>
            <a:off x="384047" y="1371600"/>
            <a:ext cx="641189" cy="2983229"/>
          </a:xfrm>
          <a:prstGeom prst="rect">
            <a:avLst/>
          </a:prstGeom>
          <a:solidFill>
            <a:srgbClr val="23825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29"/>
          <p:cNvSpPr/>
          <p:nvPr/>
        </p:nvSpPr>
        <p:spPr>
          <a:xfrm>
            <a:off x="4567427" y="1371600"/>
            <a:ext cx="641189" cy="2983229"/>
          </a:xfrm>
          <a:prstGeom prst="rect">
            <a:avLst/>
          </a:prstGeom>
          <a:solidFill>
            <a:srgbClr val="B042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2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4" name="Google Shape;194;p29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195" name="Google Shape;195;p29"/>
          <p:cNvSpPr/>
          <p:nvPr/>
        </p:nvSpPr>
        <p:spPr>
          <a:xfrm>
            <a:off x="480060" y="1371600"/>
            <a:ext cx="4011930" cy="298322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9"/>
          <p:cNvSpPr txBox="1"/>
          <p:nvPr/>
        </p:nvSpPr>
        <p:spPr>
          <a:xfrm>
            <a:off x="603503" y="1453896"/>
            <a:ext cx="380619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Alcance</a:t>
            </a:r>
            <a:endParaRPr sz="1100"/>
          </a:p>
        </p:txBody>
      </p:sp>
      <p:sp>
        <p:nvSpPr>
          <p:cNvPr id="198" name="Google Shape;198;p29"/>
          <p:cNvSpPr txBox="1"/>
          <p:nvPr/>
        </p:nvSpPr>
        <p:spPr>
          <a:xfrm>
            <a:off x="603503" y="1728216"/>
            <a:ext cx="3792473" cy="255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Asistencia y presencia.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Creación y gestión concurrente de tareas.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Aprobación y cierre.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Catálogo de plantillas.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Mapa de constelación, KPIs e historial.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Seguridad y permisos.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Chat y anuncios.</a:t>
            </a:r>
            <a:endParaRPr sz="1100"/>
          </a:p>
        </p:txBody>
      </p:sp>
      <p:sp>
        <p:nvSpPr>
          <p:cNvPr id="199" name="Google Shape;199;p29"/>
          <p:cNvSpPr/>
          <p:nvPr/>
        </p:nvSpPr>
        <p:spPr>
          <a:xfrm>
            <a:off x="4663440" y="1371600"/>
            <a:ext cx="4011930" cy="2983229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29"/>
          <p:cNvSpPr txBox="1"/>
          <p:nvPr/>
        </p:nvSpPr>
        <p:spPr>
          <a:xfrm>
            <a:off x="4786884" y="1453896"/>
            <a:ext cx="380619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Limitaciones y restricciones</a:t>
            </a:r>
            <a:endParaRPr sz="1100"/>
          </a:p>
        </p:txBody>
      </p:sp>
      <p:sp>
        <p:nvSpPr>
          <p:cNvPr id="202" name="Google Shape;202;p29"/>
          <p:cNvSpPr txBox="1"/>
          <p:nvPr/>
        </p:nvSpPr>
        <p:spPr>
          <a:xfrm>
            <a:off x="4786884" y="1728216"/>
            <a:ext cx="3792473" cy="25580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Proyecto académico de 18 semanas.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Aplicación web para navegadores modernos.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Sin instalación adicional en el cliente.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Carga objetivo del mapa: hasta 100 nodos.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1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• La certificación final depende de pruebas funcionales, seguridad, rendimiento y regresión.</a:t>
            </a:r>
            <a:endParaRPr sz="1100"/>
          </a:p>
        </p:txBody>
      </p:sp>
      <p:sp>
        <p:nvSpPr>
          <p:cNvPr id="203" name="Google Shape;203;p29"/>
          <p:cNvSpPr txBox="1"/>
          <p:nvPr/>
        </p:nvSpPr>
        <p:spPr>
          <a:xfrm>
            <a:off x="445770" y="809244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Alcances y limitaciones del proyecto</a:t>
            </a:r>
            <a:endParaRPr sz="1100"/>
          </a:p>
        </p:txBody>
      </p:sp>
      <p:pic>
        <p:nvPicPr>
          <p:cNvPr id="204" name="Google Shape;204;p29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5" y="270350"/>
            <a:ext cx="1078492" cy="3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84049" y="1417320"/>
            <a:ext cx="583552" cy="2907792"/>
          </a:xfrm>
          <a:prstGeom prst="rect">
            <a:avLst/>
          </a:prstGeom>
          <a:solidFill>
            <a:srgbClr val="385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46121" y="1417320"/>
            <a:ext cx="583552" cy="2907792"/>
          </a:xfrm>
          <a:prstGeom prst="rect">
            <a:avLst/>
          </a:prstGeom>
          <a:solidFill>
            <a:srgbClr val="E89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108193" y="1417320"/>
            <a:ext cx="583552" cy="2907792"/>
          </a:xfrm>
          <a:prstGeom prst="rect">
            <a:avLst/>
          </a:prstGeom>
          <a:solidFill>
            <a:srgbClr val="23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9114" y="155662"/>
            <a:ext cx="2356055" cy="58901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025" y="270350"/>
            <a:ext cx="1078492" cy="359675"/>
          </a:xfrm>
          <a:prstGeom prst="rect">
            <a:avLst/>
          </a:prstGeom>
        </p:spPr>
      </p:pic>
      <p:cxnSp>
        <p:nvCxnSpPr>
          <p:cNvPr id="5" name="Connector 4"/>
          <p:cNvCxnSpPr/>
          <p:nvPr/>
        </p:nvCxnSpPr>
        <p:spPr>
          <a:xfrm>
            <a:off x="0" y="566928"/>
            <a:ext cx="3063240" cy="0"/>
          </a:xfrm>
          <a:prstGeom prst="line">
            <a:avLst/>
          </a:prstGeom>
          <a:ln w="12700">
            <a:solidFill>
              <a:srgbClr val="D7DF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48056" y="813816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700" b="0">
                <a:solidFill>
                  <a:srgbClr val="203553"/>
                </a:solidFill>
                <a:latin typeface="Calibri"/>
              </a:rPr>
              <a:t>Propuesta de valor y aplicación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84632" y="1417320"/>
            <a:ext cx="2569464" cy="2907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" y="1527048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203553"/>
                </a:solidFill>
                <a:latin typeface="Arial"/>
              </a:rPr>
              <a:t>Valor que entrega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" y="1892808"/>
            <a:ext cx="2340864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Arial"/>
              </a:rPr>
              <a:t>Reúne jornada, tareas, avances y comunicación en un solo lugar. Facilita el seguimiento y reduce información dispersa.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46704" y="1417320"/>
            <a:ext cx="2569464" cy="2907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74720" y="1527048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203553"/>
                </a:solidFill>
                <a:latin typeface="Arial"/>
              </a:rPr>
              <a:t>Usuarios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1892808"/>
            <a:ext cx="2340864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Arial"/>
              </a:rPr>
              <a:t>Trabajadores que registran su actividad y administradores que coordinan, revisan y aprueban el trabajo.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08776" y="1417320"/>
            <a:ext cx="2569464" cy="29077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DF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36792" y="1527048"/>
            <a:ext cx="2340864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200" b="1">
                <a:solidFill>
                  <a:srgbClr val="203553"/>
                </a:solidFill>
                <a:latin typeface="Arial"/>
              </a:rPr>
              <a:t>Implementación y crecimiento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36792" y="1892808"/>
            <a:ext cx="2340864" cy="23134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100" b="0">
                <a:solidFill>
                  <a:srgbClr val="222222"/>
                </a:solidFill>
                <a:latin typeface="Arial"/>
              </a:rPr>
              <a:t>Pensado para uso interno en equipos operativos. Requiere hosting, base de datos y mantenimiento; puede crecer a más equipos o sedes.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00517" y="4787837"/>
            <a:ext cx="67665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5F6B78"/>
                </a:solidFill>
                <a:latin typeface="Arial"/>
              </a:rPr>
              <a:t>Valor principal: trazabilidad, control y una visión centralizada del trabajo.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p30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0" name="Google Shape;210;p30"/>
          <p:cNvCxnSpPr>
            <a:cxnSpLocks/>
          </p:cNvCxnSpPr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211" name="Google Shape;211;p30"/>
          <p:cNvSpPr txBox="1"/>
          <p:nvPr/>
        </p:nvSpPr>
        <p:spPr>
          <a:xfrm>
            <a:off x="514350" y="1268730"/>
            <a:ext cx="8092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6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Scrum · desarrollo incremental con Sprints de 2 semanas</a:t>
            </a:r>
            <a:endParaRPr sz="1100"/>
          </a:p>
        </p:txBody>
      </p:sp>
      <p:sp>
        <p:nvSpPr>
          <p:cNvPr id="212" name="Google Shape;212;p30"/>
          <p:cNvSpPr/>
          <p:nvPr/>
        </p:nvSpPr>
        <p:spPr>
          <a:xfrm>
            <a:off x="377190" y="1885950"/>
            <a:ext cx="1014984" cy="720090"/>
          </a:xfrm>
          <a:prstGeom prst="roundRect">
            <a:avLst>
              <a:gd name="adj" fmla="val 16667"/>
            </a:avLst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411480" y="1995678"/>
            <a:ext cx="946404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Visión</a:t>
            </a:r>
            <a:endParaRPr sz="1100"/>
          </a:p>
        </p:txBody>
      </p:sp>
      <p:sp>
        <p:nvSpPr>
          <p:cNvPr id="214" name="Google Shape;214;p30"/>
          <p:cNvSpPr txBox="1"/>
          <p:nvPr/>
        </p:nvSpPr>
        <p:spPr>
          <a:xfrm>
            <a:off x="1392174" y="2077974"/>
            <a:ext cx="2057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646C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215" name="Google Shape;215;p30"/>
          <p:cNvSpPr/>
          <p:nvPr/>
        </p:nvSpPr>
        <p:spPr>
          <a:xfrm>
            <a:off x="1597914" y="1885950"/>
            <a:ext cx="1014984" cy="720090"/>
          </a:xfrm>
          <a:prstGeom prst="roundRect">
            <a:avLst>
              <a:gd name="adj" fmla="val 16667"/>
            </a:avLst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1632204" y="1995678"/>
            <a:ext cx="946404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Requerimientos</a:t>
            </a:r>
            <a:endParaRPr sz="1100"/>
          </a:p>
        </p:txBody>
      </p:sp>
      <p:sp>
        <p:nvSpPr>
          <p:cNvPr id="217" name="Google Shape;217;p30"/>
          <p:cNvSpPr txBox="1"/>
          <p:nvPr/>
        </p:nvSpPr>
        <p:spPr>
          <a:xfrm>
            <a:off x="2612898" y="2077974"/>
            <a:ext cx="2057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646C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218" name="Google Shape;218;p30"/>
          <p:cNvSpPr/>
          <p:nvPr/>
        </p:nvSpPr>
        <p:spPr>
          <a:xfrm>
            <a:off x="2818638" y="1885950"/>
            <a:ext cx="1014984" cy="720090"/>
          </a:xfrm>
          <a:prstGeom prst="roundRect">
            <a:avLst>
              <a:gd name="adj" fmla="val 16667"/>
            </a:avLst>
          </a:prstGeom>
          <a:solidFill>
            <a:srgbClr val="E897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2852928" y="1995678"/>
            <a:ext cx="946404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Product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Backlog</a:t>
            </a:r>
            <a:endParaRPr sz="1100"/>
          </a:p>
        </p:txBody>
      </p:sp>
      <p:sp>
        <p:nvSpPr>
          <p:cNvPr id="220" name="Google Shape;220;p30"/>
          <p:cNvSpPr txBox="1"/>
          <p:nvPr/>
        </p:nvSpPr>
        <p:spPr>
          <a:xfrm>
            <a:off x="3833622" y="2077974"/>
            <a:ext cx="2057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646C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221" name="Google Shape;221;p30"/>
          <p:cNvSpPr/>
          <p:nvPr/>
        </p:nvSpPr>
        <p:spPr>
          <a:xfrm>
            <a:off x="4039362" y="1885950"/>
            <a:ext cx="1014984" cy="720090"/>
          </a:xfrm>
          <a:prstGeom prst="roundRect">
            <a:avLst>
              <a:gd name="adj" fmla="val 16667"/>
            </a:avLst>
          </a:prstGeom>
          <a:solidFill>
            <a:srgbClr val="E897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4073652" y="1995678"/>
            <a:ext cx="946404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Planning</a:t>
            </a:r>
            <a:endParaRPr sz="1100"/>
          </a:p>
        </p:txBody>
      </p:sp>
      <p:sp>
        <p:nvSpPr>
          <p:cNvPr id="223" name="Google Shape;223;p30"/>
          <p:cNvSpPr txBox="1"/>
          <p:nvPr/>
        </p:nvSpPr>
        <p:spPr>
          <a:xfrm>
            <a:off x="5054345" y="2077974"/>
            <a:ext cx="2057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646C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224" name="Google Shape;224;p30"/>
          <p:cNvSpPr/>
          <p:nvPr/>
        </p:nvSpPr>
        <p:spPr>
          <a:xfrm>
            <a:off x="5260086" y="1885950"/>
            <a:ext cx="1014984" cy="720090"/>
          </a:xfrm>
          <a:prstGeom prst="roundRect">
            <a:avLst>
              <a:gd name="adj" fmla="val 16667"/>
            </a:avLst>
          </a:prstGeom>
          <a:solidFill>
            <a:srgbClr val="23825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0"/>
          <p:cNvSpPr txBox="1"/>
          <p:nvPr/>
        </p:nvSpPr>
        <p:spPr>
          <a:xfrm>
            <a:off x="5294376" y="1995678"/>
            <a:ext cx="946404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Construcción</a:t>
            </a:r>
            <a:endParaRPr sz="1100"/>
          </a:p>
        </p:txBody>
      </p:sp>
      <p:sp>
        <p:nvSpPr>
          <p:cNvPr id="226" name="Google Shape;226;p30"/>
          <p:cNvSpPr txBox="1"/>
          <p:nvPr/>
        </p:nvSpPr>
        <p:spPr>
          <a:xfrm>
            <a:off x="6275070" y="2077974"/>
            <a:ext cx="2057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646C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227" name="Google Shape;227;p30"/>
          <p:cNvSpPr/>
          <p:nvPr/>
        </p:nvSpPr>
        <p:spPr>
          <a:xfrm>
            <a:off x="6480810" y="1885950"/>
            <a:ext cx="1014984" cy="720090"/>
          </a:xfrm>
          <a:prstGeom prst="roundRect">
            <a:avLst>
              <a:gd name="adj" fmla="val 16667"/>
            </a:avLst>
          </a:prstGeom>
          <a:solidFill>
            <a:srgbClr val="23825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0"/>
          <p:cNvSpPr txBox="1"/>
          <p:nvPr/>
        </p:nvSpPr>
        <p:spPr>
          <a:xfrm>
            <a:off x="6515100" y="1995678"/>
            <a:ext cx="946404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QA / Seguridad</a:t>
            </a:r>
            <a:endParaRPr sz="1100"/>
          </a:p>
        </p:txBody>
      </p:sp>
      <p:sp>
        <p:nvSpPr>
          <p:cNvPr id="229" name="Google Shape;229;p30"/>
          <p:cNvSpPr txBox="1"/>
          <p:nvPr/>
        </p:nvSpPr>
        <p:spPr>
          <a:xfrm>
            <a:off x="7495794" y="2077974"/>
            <a:ext cx="20574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400" b="1">
                <a:solidFill>
                  <a:srgbClr val="646C74"/>
                </a:solidFill>
                <a:latin typeface="Arial"/>
                <a:ea typeface="Arial"/>
                <a:cs typeface="Arial"/>
                <a:sym typeface="Arial"/>
              </a:rPr>
              <a:t>→</a:t>
            </a:r>
            <a:endParaRPr sz="1100"/>
          </a:p>
        </p:txBody>
      </p:sp>
      <p:sp>
        <p:nvSpPr>
          <p:cNvPr id="230" name="Google Shape;230;p30"/>
          <p:cNvSpPr/>
          <p:nvPr/>
        </p:nvSpPr>
        <p:spPr>
          <a:xfrm>
            <a:off x="7701534" y="1885950"/>
            <a:ext cx="1014984" cy="720090"/>
          </a:xfrm>
          <a:prstGeom prst="roundRect">
            <a:avLst>
              <a:gd name="adj" fmla="val 16667"/>
            </a:avLst>
          </a:prstGeom>
          <a:solidFill>
            <a:srgbClr val="1D2E4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30"/>
          <p:cNvSpPr txBox="1"/>
          <p:nvPr/>
        </p:nvSpPr>
        <p:spPr>
          <a:xfrm>
            <a:off x="7735824" y="1995678"/>
            <a:ext cx="946404" cy="4251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Review +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10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Retrospective</a:t>
            </a:r>
            <a:endParaRPr sz="1100"/>
          </a:p>
        </p:txBody>
      </p:sp>
      <p:sp>
        <p:nvSpPr>
          <p:cNvPr id="232" name="Google Shape;232;p30"/>
          <p:cNvSpPr/>
          <p:nvPr/>
        </p:nvSpPr>
        <p:spPr>
          <a:xfrm>
            <a:off x="685800" y="3051810"/>
            <a:ext cx="2366010" cy="99441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0"/>
          <p:cNvSpPr/>
          <p:nvPr/>
        </p:nvSpPr>
        <p:spPr>
          <a:xfrm>
            <a:off x="685800" y="3051810"/>
            <a:ext cx="54864" cy="994410"/>
          </a:xfrm>
          <a:prstGeom prst="rect">
            <a:avLst/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30"/>
          <p:cNvSpPr txBox="1"/>
          <p:nvPr/>
        </p:nvSpPr>
        <p:spPr>
          <a:xfrm>
            <a:off x="809244" y="3134106"/>
            <a:ext cx="216027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DoR</a:t>
            </a:r>
            <a:endParaRPr sz="1100"/>
          </a:p>
        </p:txBody>
      </p:sp>
      <p:sp>
        <p:nvSpPr>
          <p:cNvPr id="235" name="Google Shape;235;p30"/>
          <p:cNvSpPr txBox="1"/>
          <p:nvPr/>
        </p:nvSpPr>
        <p:spPr>
          <a:xfrm>
            <a:off x="809244" y="3408426"/>
            <a:ext cx="2146554" cy="56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Criterios definidos, estimación, trazabilidad RF/RNF y dependencias identificadas.</a:t>
            </a:r>
            <a:endParaRPr sz="1100"/>
          </a:p>
        </p:txBody>
      </p:sp>
      <p:sp>
        <p:nvSpPr>
          <p:cNvPr id="236" name="Google Shape;236;p30"/>
          <p:cNvSpPr/>
          <p:nvPr/>
        </p:nvSpPr>
        <p:spPr>
          <a:xfrm>
            <a:off x="3394710" y="3051810"/>
            <a:ext cx="2366010" cy="99441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30"/>
          <p:cNvSpPr/>
          <p:nvPr/>
        </p:nvSpPr>
        <p:spPr>
          <a:xfrm>
            <a:off x="3394710" y="3051810"/>
            <a:ext cx="54864" cy="994410"/>
          </a:xfrm>
          <a:prstGeom prst="rect">
            <a:avLst/>
          </a:prstGeom>
          <a:solidFill>
            <a:srgbClr val="23825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30"/>
          <p:cNvSpPr txBox="1"/>
          <p:nvPr/>
        </p:nvSpPr>
        <p:spPr>
          <a:xfrm>
            <a:off x="3518154" y="3134106"/>
            <a:ext cx="216027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DoD</a:t>
            </a:r>
            <a:endParaRPr sz="1100"/>
          </a:p>
        </p:txBody>
      </p:sp>
      <p:sp>
        <p:nvSpPr>
          <p:cNvPr id="239" name="Google Shape;239;p30"/>
          <p:cNvSpPr txBox="1"/>
          <p:nvPr/>
        </p:nvSpPr>
        <p:spPr>
          <a:xfrm>
            <a:off x="3518154" y="3408426"/>
            <a:ext cx="2146554" cy="56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Código integrado, pruebas aprobadas, seguridad verificada y resultado demostrable.</a:t>
            </a:r>
            <a:endParaRPr sz="1100"/>
          </a:p>
        </p:txBody>
      </p:sp>
      <p:sp>
        <p:nvSpPr>
          <p:cNvPr id="240" name="Google Shape;240;p30"/>
          <p:cNvSpPr/>
          <p:nvPr/>
        </p:nvSpPr>
        <p:spPr>
          <a:xfrm>
            <a:off x="6103620" y="3051810"/>
            <a:ext cx="2366010" cy="99441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30"/>
          <p:cNvSpPr/>
          <p:nvPr/>
        </p:nvSpPr>
        <p:spPr>
          <a:xfrm>
            <a:off x="6103620" y="3051810"/>
            <a:ext cx="54864" cy="994410"/>
          </a:xfrm>
          <a:prstGeom prst="rect">
            <a:avLst/>
          </a:prstGeom>
          <a:solidFill>
            <a:srgbClr val="E897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0"/>
          <p:cNvSpPr txBox="1"/>
          <p:nvPr/>
        </p:nvSpPr>
        <p:spPr>
          <a:xfrm>
            <a:off x="6227064" y="3134106"/>
            <a:ext cx="216027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Roles</a:t>
            </a:r>
            <a:endParaRPr sz="1100"/>
          </a:p>
        </p:txBody>
      </p:sp>
      <p:sp>
        <p:nvSpPr>
          <p:cNvPr id="243" name="Google Shape;243;p30"/>
          <p:cNvSpPr txBox="1"/>
          <p:nvPr/>
        </p:nvSpPr>
        <p:spPr>
          <a:xfrm>
            <a:off x="6227064" y="3408426"/>
            <a:ext cx="2146554" cy="5692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Gabriel: Scrum Master/Backend · Jorge: Frontend · Diego: QA/Seguridad.</a:t>
            </a:r>
            <a:endParaRPr sz="1100"/>
          </a:p>
        </p:txBody>
      </p:sp>
      <p:sp>
        <p:nvSpPr>
          <p:cNvPr id="244" name="Google Shape;244;p30"/>
          <p:cNvSpPr txBox="1"/>
          <p:nvPr/>
        </p:nvSpPr>
        <p:spPr>
          <a:xfrm>
            <a:off x="445770" y="809244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Metodología de trabajo</a:t>
            </a:r>
            <a:endParaRPr sz="1100"/>
          </a:p>
        </p:txBody>
      </p:sp>
      <p:pic>
        <p:nvPicPr>
          <p:cNvPr id="245" name="Google Shape;245;p30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5" y="270350"/>
            <a:ext cx="1078492" cy="3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246" name="TextBox 245"/>
          <p:cNvSpPr txBox="1"/>
          <p:nvPr/>
        </p:nvSpPr>
        <p:spPr>
          <a:xfrm>
            <a:off x="868680" y="4325112"/>
            <a:ext cx="7406640" cy="30175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00" b="1">
                <a:solidFill>
                  <a:srgbClr val="5F6B78"/>
                </a:solidFill>
                <a:latin typeface="Arial"/>
              </a:rPr>
              <a:t>Seguimiento del trabajo: Sprint Backlog · Git/GitHub · matriz de pruebas · Postman · JUnit/MockMvc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0" name="Google Shape;250;p31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51" name="Google Shape;251;p31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graphicFrame>
        <p:nvGraphicFramePr>
          <p:cNvPr id="252" name="Google Shape;252;p31"/>
          <p:cNvGraphicFramePr/>
          <p:nvPr>
            <p:extLst>
              <p:ext uri="{D42A27DB-BD31-4B8C-83A1-F6EECF244321}">
                <p14:modId xmlns:p14="http://schemas.microsoft.com/office/powerpoint/2010/main" val="3361081667"/>
              </p:ext>
            </p:extLst>
          </p:nvPr>
        </p:nvGraphicFramePr>
        <p:xfrm>
          <a:off x="1498367" y="1075366"/>
          <a:ext cx="7257704" cy="3281889"/>
        </p:xfrm>
        <a:graphic>
          <a:graphicData uri="http://schemas.openxmlformats.org/drawingml/2006/table">
            <a:tbl>
              <a:tblPr>
                <a:noFill/>
                <a:tableStyleId>{C1367302-EA69-4F30-A0BA-64FC08861BDE}</a:tableStyleId>
              </a:tblPr>
              <a:tblGrid>
                <a:gridCol w="883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39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19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438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4386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419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419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4190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4190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41905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41905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41905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43205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43205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43205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43205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43205">
                  <a:extLst>
                    <a:ext uri="{9D8B030D-6E8A-4147-A177-3AD203B41FA5}">
                      <a16:colId xmlns:a16="http://schemas.microsoft.com/office/drawing/2014/main" val="20016"/>
                    </a:ext>
                  </a:extLst>
                </a:gridCol>
                <a:gridCol w="99345">
                  <a:extLst>
                    <a:ext uri="{9D8B030D-6E8A-4147-A177-3AD203B41FA5}">
                      <a16:colId xmlns:a16="http://schemas.microsoft.com/office/drawing/2014/main" val="20017"/>
                    </a:ext>
                  </a:extLst>
                </a:gridCol>
                <a:gridCol w="343205">
                  <a:extLst>
                    <a:ext uri="{9D8B030D-6E8A-4147-A177-3AD203B41FA5}">
                      <a16:colId xmlns:a16="http://schemas.microsoft.com/office/drawing/2014/main" val="20018"/>
                    </a:ext>
                  </a:extLst>
                </a:gridCol>
                <a:gridCol w="343205">
                  <a:extLst>
                    <a:ext uri="{9D8B030D-6E8A-4147-A177-3AD203B41FA5}">
                      <a16:colId xmlns:a16="http://schemas.microsoft.com/office/drawing/2014/main" val="20019"/>
                    </a:ext>
                  </a:extLst>
                </a:gridCol>
                <a:gridCol w="99345">
                  <a:extLst>
                    <a:ext uri="{9D8B030D-6E8A-4147-A177-3AD203B41FA5}">
                      <a16:colId xmlns:a16="http://schemas.microsoft.com/office/drawing/2014/main" val="20020"/>
                    </a:ext>
                  </a:extLst>
                </a:gridCol>
              </a:tblGrid>
              <a:tr h="475713">
                <a:tc row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Actividad</a:t>
                      </a: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2EFD9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1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2CC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gridSpan="4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Fase 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BE4D5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256">
                <a:tc v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9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10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11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12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13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14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15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16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17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 18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349951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800" u="none" strike="noStrike" cap="none" dirty="0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256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713"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s-CL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just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600" b="1" u="none" strike="noStrike" cap="none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800" u="none" strike="noStrike" cap="none"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51425" marR="51425" marT="0" marB="0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s-419" sz="800" u="none" strike="noStrike" cap="none" dirty="0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 </a:t>
                      </a:r>
                      <a:endParaRPr sz="1100" dirty="0"/>
                    </a:p>
                  </a:txBody>
                  <a:tcPr marL="0" marR="0" marT="0" marB="0" anchor="ctr">
                    <a:lnL w="12700" cap="flat" cmpd="sng">
                      <a:solidFill>
                        <a:srgbClr val="BFBFBF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53" name="Google Shape;253;p31"/>
          <p:cNvSpPr txBox="1"/>
          <p:nvPr/>
        </p:nvSpPr>
        <p:spPr>
          <a:xfrm>
            <a:off x="342900" y="545662"/>
            <a:ext cx="8229600" cy="4524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 dirty="0">
                <a:solidFill>
                  <a:srgbClr val="203553"/>
                </a:solidFill>
                <a:latin typeface="Arial"/>
              </a:rPr>
              <a:t>Plan de 18 </a:t>
            </a:r>
            <a:r>
              <a:rPr sz="1200" b="1" dirty="0" err="1">
                <a:solidFill>
                  <a:srgbClr val="203553"/>
                </a:solidFill>
                <a:latin typeface="Arial"/>
              </a:rPr>
              <a:t>semanas</a:t>
            </a:r>
            <a:r>
              <a:rPr lang="es-CL" sz="1200" b="1" dirty="0">
                <a:solidFill>
                  <a:srgbClr val="203553"/>
                </a:solidFill>
              </a:rPr>
              <a:t>.</a:t>
            </a:r>
            <a:br>
              <a:rPr lang="es-CL" sz="1200" b="1" dirty="0">
                <a:solidFill>
                  <a:srgbClr val="203553"/>
                </a:solidFill>
              </a:rPr>
            </a:br>
            <a:r>
              <a:rPr sz="1200" b="1" dirty="0">
                <a:solidFill>
                  <a:srgbClr val="203553"/>
                </a:solidFill>
                <a:latin typeface="Arial"/>
              </a:rPr>
              <a:t>Estado al 10/10/2026</a:t>
            </a:r>
            <a:endParaRPr sz="1100" b="1" dirty="0">
              <a:solidFill>
                <a:srgbClr val="1D2E46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2" name="Google Shape;272;p31"/>
          <p:cNvSpPr txBox="1"/>
          <p:nvPr/>
        </p:nvSpPr>
        <p:spPr>
          <a:xfrm>
            <a:off x="561775" y="1769364"/>
            <a:ext cx="1696515" cy="206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b="0" dirty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Fase 1 · Definición</a:t>
            </a:r>
            <a:endParaRPr sz="1100" dirty="0"/>
          </a:p>
        </p:txBody>
      </p:sp>
      <p:sp>
        <p:nvSpPr>
          <p:cNvPr id="273" name="Google Shape;273;p31"/>
          <p:cNvSpPr/>
          <p:nvPr/>
        </p:nvSpPr>
        <p:spPr>
          <a:xfrm>
            <a:off x="2366010" y="1769364"/>
            <a:ext cx="338327" cy="192024"/>
          </a:xfrm>
          <a:prstGeom prst="rect">
            <a:avLst/>
          </a:prstGeom>
          <a:solidFill>
            <a:srgbClr val="385F91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31"/>
          <p:cNvSpPr/>
          <p:nvPr/>
        </p:nvSpPr>
        <p:spPr>
          <a:xfrm>
            <a:off x="2714625" y="1769364"/>
            <a:ext cx="338327" cy="192024"/>
          </a:xfrm>
          <a:prstGeom prst="rect">
            <a:avLst/>
          </a:prstGeom>
          <a:solidFill>
            <a:srgbClr val="385F91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5" name="Google Shape;275;p31"/>
          <p:cNvSpPr/>
          <p:nvPr/>
        </p:nvSpPr>
        <p:spPr>
          <a:xfrm>
            <a:off x="3063240" y="1769364"/>
            <a:ext cx="338327" cy="192024"/>
          </a:xfrm>
          <a:prstGeom prst="rect">
            <a:avLst/>
          </a:prstGeom>
          <a:solidFill>
            <a:srgbClr val="385F91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31"/>
          <p:cNvSpPr/>
          <p:nvPr/>
        </p:nvSpPr>
        <p:spPr>
          <a:xfrm>
            <a:off x="3411855" y="1769364"/>
            <a:ext cx="338327" cy="192024"/>
          </a:xfrm>
          <a:prstGeom prst="rect">
            <a:avLst/>
          </a:prstGeom>
          <a:solidFill>
            <a:srgbClr val="385F91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31"/>
          <p:cNvSpPr/>
          <p:nvPr/>
        </p:nvSpPr>
        <p:spPr>
          <a:xfrm>
            <a:off x="3760470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8" name="Google Shape;278;p31"/>
          <p:cNvSpPr/>
          <p:nvPr/>
        </p:nvSpPr>
        <p:spPr>
          <a:xfrm>
            <a:off x="4109085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31"/>
          <p:cNvSpPr/>
          <p:nvPr/>
        </p:nvSpPr>
        <p:spPr>
          <a:xfrm>
            <a:off x="4457700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1"/>
          <p:cNvSpPr/>
          <p:nvPr/>
        </p:nvSpPr>
        <p:spPr>
          <a:xfrm>
            <a:off x="4792461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1"/>
          <p:cNvSpPr/>
          <p:nvPr/>
        </p:nvSpPr>
        <p:spPr>
          <a:xfrm>
            <a:off x="5134149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31"/>
          <p:cNvSpPr/>
          <p:nvPr/>
        </p:nvSpPr>
        <p:spPr>
          <a:xfrm>
            <a:off x="5482763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31"/>
          <p:cNvSpPr/>
          <p:nvPr/>
        </p:nvSpPr>
        <p:spPr>
          <a:xfrm>
            <a:off x="5817525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4" name="Google Shape;284;p31"/>
          <p:cNvSpPr/>
          <p:nvPr/>
        </p:nvSpPr>
        <p:spPr>
          <a:xfrm>
            <a:off x="6166140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31"/>
          <p:cNvSpPr/>
          <p:nvPr/>
        </p:nvSpPr>
        <p:spPr>
          <a:xfrm>
            <a:off x="6500901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31"/>
          <p:cNvSpPr/>
          <p:nvPr/>
        </p:nvSpPr>
        <p:spPr>
          <a:xfrm>
            <a:off x="6849516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31"/>
          <p:cNvSpPr/>
          <p:nvPr/>
        </p:nvSpPr>
        <p:spPr>
          <a:xfrm>
            <a:off x="7198131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8" name="Google Shape;288;p31"/>
          <p:cNvSpPr/>
          <p:nvPr/>
        </p:nvSpPr>
        <p:spPr>
          <a:xfrm>
            <a:off x="7574454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1"/>
          <p:cNvSpPr/>
          <p:nvPr/>
        </p:nvSpPr>
        <p:spPr>
          <a:xfrm>
            <a:off x="7957703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1"/>
          <p:cNvSpPr/>
          <p:nvPr/>
        </p:nvSpPr>
        <p:spPr>
          <a:xfrm>
            <a:off x="8306318" y="176936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31"/>
          <p:cNvSpPr txBox="1"/>
          <p:nvPr/>
        </p:nvSpPr>
        <p:spPr>
          <a:xfrm>
            <a:off x="561775" y="2098548"/>
            <a:ext cx="1696515" cy="206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b="0" dirty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Sprint 1 · Construcción inicial</a:t>
            </a:r>
            <a:endParaRPr sz="1100" dirty="0"/>
          </a:p>
        </p:txBody>
      </p:sp>
      <p:sp>
        <p:nvSpPr>
          <p:cNvPr id="292" name="Google Shape;292;p31"/>
          <p:cNvSpPr/>
          <p:nvPr/>
        </p:nvSpPr>
        <p:spPr>
          <a:xfrm>
            <a:off x="2366010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1"/>
          <p:cNvSpPr/>
          <p:nvPr/>
        </p:nvSpPr>
        <p:spPr>
          <a:xfrm>
            <a:off x="2714625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4" name="Google Shape;294;p31"/>
          <p:cNvSpPr/>
          <p:nvPr/>
        </p:nvSpPr>
        <p:spPr>
          <a:xfrm>
            <a:off x="3063240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1"/>
          <p:cNvSpPr/>
          <p:nvPr/>
        </p:nvSpPr>
        <p:spPr>
          <a:xfrm>
            <a:off x="3411855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6" name="Google Shape;296;p31"/>
          <p:cNvSpPr/>
          <p:nvPr/>
        </p:nvSpPr>
        <p:spPr>
          <a:xfrm>
            <a:off x="3760470" y="2098548"/>
            <a:ext cx="338327" cy="192024"/>
          </a:xfrm>
          <a:prstGeom prst="rect">
            <a:avLst/>
          </a:prstGeom>
          <a:solidFill>
            <a:srgbClr val="23825F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1"/>
          <p:cNvSpPr/>
          <p:nvPr/>
        </p:nvSpPr>
        <p:spPr>
          <a:xfrm>
            <a:off x="4109085" y="2098548"/>
            <a:ext cx="338327" cy="192024"/>
          </a:xfrm>
          <a:prstGeom prst="rect">
            <a:avLst/>
          </a:prstGeom>
          <a:solidFill>
            <a:srgbClr val="23825F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31"/>
          <p:cNvSpPr/>
          <p:nvPr/>
        </p:nvSpPr>
        <p:spPr>
          <a:xfrm>
            <a:off x="4457700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1"/>
          <p:cNvSpPr/>
          <p:nvPr/>
        </p:nvSpPr>
        <p:spPr>
          <a:xfrm>
            <a:off x="4792461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31"/>
          <p:cNvSpPr/>
          <p:nvPr/>
        </p:nvSpPr>
        <p:spPr>
          <a:xfrm>
            <a:off x="5134149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1"/>
          <p:cNvSpPr/>
          <p:nvPr/>
        </p:nvSpPr>
        <p:spPr>
          <a:xfrm>
            <a:off x="5482763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31"/>
          <p:cNvSpPr/>
          <p:nvPr/>
        </p:nvSpPr>
        <p:spPr>
          <a:xfrm>
            <a:off x="5817525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1"/>
          <p:cNvSpPr/>
          <p:nvPr/>
        </p:nvSpPr>
        <p:spPr>
          <a:xfrm>
            <a:off x="6166140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4" name="Google Shape;304;p31"/>
          <p:cNvSpPr/>
          <p:nvPr/>
        </p:nvSpPr>
        <p:spPr>
          <a:xfrm>
            <a:off x="6500901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1"/>
          <p:cNvSpPr/>
          <p:nvPr/>
        </p:nvSpPr>
        <p:spPr>
          <a:xfrm>
            <a:off x="6849516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31"/>
          <p:cNvSpPr/>
          <p:nvPr/>
        </p:nvSpPr>
        <p:spPr>
          <a:xfrm>
            <a:off x="7198131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7" name="Google Shape;307;p31"/>
          <p:cNvSpPr/>
          <p:nvPr/>
        </p:nvSpPr>
        <p:spPr>
          <a:xfrm>
            <a:off x="7574454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31"/>
          <p:cNvSpPr/>
          <p:nvPr/>
        </p:nvSpPr>
        <p:spPr>
          <a:xfrm>
            <a:off x="7957703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31"/>
          <p:cNvSpPr/>
          <p:nvPr/>
        </p:nvSpPr>
        <p:spPr>
          <a:xfrm>
            <a:off x="8306318" y="209854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0" name="Google Shape;310;p31"/>
          <p:cNvSpPr txBox="1"/>
          <p:nvPr/>
        </p:nvSpPr>
        <p:spPr>
          <a:xfrm>
            <a:off x="561775" y="2427732"/>
            <a:ext cx="1696515" cy="206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Sprint 2 · Estabilización / usuarios</a:t>
            </a:r>
            <a:endParaRPr sz="1100"/>
          </a:p>
        </p:txBody>
      </p:sp>
      <p:sp>
        <p:nvSpPr>
          <p:cNvPr id="311" name="Google Shape;311;p31"/>
          <p:cNvSpPr/>
          <p:nvPr/>
        </p:nvSpPr>
        <p:spPr>
          <a:xfrm>
            <a:off x="2366010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31"/>
          <p:cNvSpPr/>
          <p:nvPr/>
        </p:nvSpPr>
        <p:spPr>
          <a:xfrm>
            <a:off x="2714625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3" name="Google Shape;313;p31"/>
          <p:cNvSpPr/>
          <p:nvPr/>
        </p:nvSpPr>
        <p:spPr>
          <a:xfrm>
            <a:off x="3063240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31"/>
          <p:cNvSpPr/>
          <p:nvPr/>
        </p:nvSpPr>
        <p:spPr>
          <a:xfrm>
            <a:off x="3411855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31"/>
          <p:cNvSpPr/>
          <p:nvPr/>
        </p:nvSpPr>
        <p:spPr>
          <a:xfrm>
            <a:off x="3760470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31"/>
          <p:cNvSpPr/>
          <p:nvPr/>
        </p:nvSpPr>
        <p:spPr>
          <a:xfrm>
            <a:off x="4109085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7" name="Google Shape;317;p31"/>
          <p:cNvSpPr/>
          <p:nvPr/>
        </p:nvSpPr>
        <p:spPr>
          <a:xfrm>
            <a:off x="4457700" y="2427732"/>
            <a:ext cx="338327" cy="192024"/>
          </a:xfrm>
          <a:prstGeom prst="rect">
            <a:avLst/>
          </a:prstGeom>
          <a:solidFill>
            <a:srgbClr val="23825F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8" name="Google Shape;318;p31"/>
          <p:cNvSpPr/>
          <p:nvPr/>
        </p:nvSpPr>
        <p:spPr>
          <a:xfrm>
            <a:off x="4792461" y="2427732"/>
            <a:ext cx="338327" cy="192024"/>
          </a:xfrm>
          <a:prstGeom prst="rect">
            <a:avLst/>
          </a:prstGeom>
          <a:solidFill>
            <a:srgbClr val="23825F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1"/>
          <p:cNvSpPr/>
          <p:nvPr/>
        </p:nvSpPr>
        <p:spPr>
          <a:xfrm>
            <a:off x="5134149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1"/>
          <p:cNvSpPr/>
          <p:nvPr/>
        </p:nvSpPr>
        <p:spPr>
          <a:xfrm>
            <a:off x="5482763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31"/>
          <p:cNvSpPr/>
          <p:nvPr/>
        </p:nvSpPr>
        <p:spPr>
          <a:xfrm>
            <a:off x="5817525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31"/>
          <p:cNvSpPr/>
          <p:nvPr/>
        </p:nvSpPr>
        <p:spPr>
          <a:xfrm>
            <a:off x="6166140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31"/>
          <p:cNvSpPr/>
          <p:nvPr/>
        </p:nvSpPr>
        <p:spPr>
          <a:xfrm>
            <a:off x="6500901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1"/>
          <p:cNvSpPr/>
          <p:nvPr/>
        </p:nvSpPr>
        <p:spPr>
          <a:xfrm>
            <a:off x="6849516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31"/>
          <p:cNvSpPr/>
          <p:nvPr/>
        </p:nvSpPr>
        <p:spPr>
          <a:xfrm>
            <a:off x="7198131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31"/>
          <p:cNvSpPr/>
          <p:nvPr/>
        </p:nvSpPr>
        <p:spPr>
          <a:xfrm>
            <a:off x="7574454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1"/>
          <p:cNvSpPr/>
          <p:nvPr/>
        </p:nvSpPr>
        <p:spPr>
          <a:xfrm>
            <a:off x="7957703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8" name="Google Shape;328;p31"/>
          <p:cNvSpPr/>
          <p:nvPr/>
        </p:nvSpPr>
        <p:spPr>
          <a:xfrm>
            <a:off x="8306318" y="242773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31"/>
          <p:cNvSpPr txBox="1"/>
          <p:nvPr/>
        </p:nvSpPr>
        <p:spPr>
          <a:xfrm>
            <a:off x="568034" y="2756916"/>
            <a:ext cx="1696515" cy="206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b="0" dirty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Sprint 3 · Pruebas funcionales</a:t>
            </a:r>
            <a:endParaRPr sz="1100" dirty="0"/>
          </a:p>
        </p:txBody>
      </p:sp>
      <p:sp>
        <p:nvSpPr>
          <p:cNvPr id="330" name="Google Shape;330;p31"/>
          <p:cNvSpPr/>
          <p:nvPr/>
        </p:nvSpPr>
        <p:spPr>
          <a:xfrm>
            <a:off x="2366010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1" name="Google Shape;331;p31"/>
          <p:cNvSpPr/>
          <p:nvPr/>
        </p:nvSpPr>
        <p:spPr>
          <a:xfrm>
            <a:off x="2714625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2" name="Google Shape;332;p31"/>
          <p:cNvSpPr/>
          <p:nvPr/>
        </p:nvSpPr>
        <p:spPr>
          <a:xfrm>
            <a:off x="3063240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1"/>
          <p:cNvSpPr/>
          <p:nvPr/>
        </p:nvSpPr>
        <p:spPr>
          <a:xfrm>
            <a:off x="3411855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4" name="Google Shape;334;p31"/>
          <p:cNvSpPr/>
          <p:nvPr/>
        </p:nvSpPr>
        <p:spPr>
          <a:xfrm>
            <a:off x="3760470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5" name="Google Shape;335;p31"/>
          <p:cNvSpPr/>
          <p:nvPr/>
        </p:nvSpPr>
        <p:spPr>
          <a:xfrm>
            <a:off x="4109085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1"/>
          <p:cNvSpPr/>
          <p:nvPr/>
        </p:nvSpPr>
        <p:spPr>
          <a:xfrm>
            <a:off x="4457700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7" name="Google Shape;337;p31"/>
          <p:cNvSpPr/>
          <p:nvPr/>
        </p:nvSpPr>
        <p:spPr>
          <a:xfrm>
            <a:off x="4792461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8" name="Google Shape;338;p31"/>
          <p:cNvSpPr/>
          <p:nvPr/>
        </p:nvSpPr>
        <p:spPr>
          <a:xfrm>
            <a:off x="5134149" y="2756915"/>
            <a:ext cx="338327" cy="192024"/>
          </a:xfrm>
          <a:prstGeom prst="rect">
            <a:avLst/>
          </a:prstGeom>
          <a:solidFill>
            <a:srgbClr val="E8972E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1"/>
          <p:cNvSpPr/>
          <p:nvPr/>
        </p:nvSpPr>
        <p:spPr>
          <a:xfrm>
            <a:off x="5482763" y="2756915"/>
            <a:ext cx="338327" cy="192024"/>
          </a:xfrm>
          <a:prstGeom prst="rect">
            <a:avLst/>
          </a:prstGeom>
          <a:solidFill>
            <a:srgbClr val="E8972E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0" name="Google Shape;340;p31"/>
          <p:cNvSpPr/>
          <p:nvPr/>
        </p:nvSpPr>
        <p:spPr>
          <a:xfrm>
            <a:off x="5817525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1"/>
          <p:cNvSpPr/>
          <p:nvPr/>
        </p:nvSpPr>
        <p:spPr>
          <a:xfrm>
            <a:off x="6166140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31"/>
          <p:cNvSpPr/>
          <p:nvPr/>
        </p:nvSpPr>
        <p:spPr>
          <a:xfrm>
            <a:off x="6500901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31"/>
          <p:cNvSpPr/>
          <p:nvPr/>
        </p:nvSpPr>
        <p:spPr>
          <a:xfrm>
            <a:off x="6849516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4" name="Google Shape;344;p31"/>
          <p:cNvSpPr/>
          <p:nvPr/>
        </p:nvSpPr>
        <p:spPr>
          <a:xfrm>
            <a:off x="7198131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5" name="Google Shape;345;p31"/>
          <p:cNvSpPr/>
          <p:nvPr/>
        </p:nvSpPr>
        <p:spPr>
          <a:xfrm>
            <a:off x="7574454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6" name="Google Shape;346;p31"/>
          <p:cNvSpPr/>
          <p:nvPr/>
        </p:nvSpPr>
        <p:spPr>
          <a:xfrm>
            <a:off x="7957703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7" name="Google Shape;347;p31"/>
          <p:cNvSpPr/>
          <p:nvPr/>
        </p:nvSpPr>
        <p:spPr>
          <a:xfrm>
            <a:off x="8306318" y="2756915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1"/>
          <p:cNvSpPr txBox="1"/>
          <p:nvPr/>
        </p:nvSpPr>
        <p:spPr>
          <a:xfrm>
            <a:off x="561775" y="3086100"/>
            <a:ext cx="1696515" cy="206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b="0" dirty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Sprint 4 · Seguridad</a:t>
            </a:r>
            <a:endParaRPr sz="1100" dirty="0"/>
          </a:p>
        </p:txBody>
      </p:sp>
      <p:sp>
        <p:nvSpPr>
          <p:cNvPr id="349" name="Google Shape;349;p31"/>
          <p:cNvSpPr/>
          <p:nvPr/>
        </p:nvSpPr>
        <p:spPr>
          <a:xfrm>
            <a:off x="2366010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0" name="Google Shape;350;p31"/>
          <p:cNvSpPr/>
          <p:nvPr/>
        </p:nvSpPr>
        <p:spPr>
          <a:xfrm>
            <a:off x="2714625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1" name="Google Shape;351;p31"/>
          <p:cNvSpPr/>
          <p:nvPr/>
        </p:nvSpPr>
        <p:spPr>
          <a:xfrm>
            <a:off x="3063240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1"/>
          <p:cNvSpPr/>
          <p:nvPr/>
        </p:nvSpPr>
        <p:spPr>
          <a:xfrm>
            <a:off x="3411855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3" name="Google Shape;353;p31"/>
          <p:cNvSpPr/>
          <p:nvPr/>
        </p:nvSpPr>
        <p:spPr>
          <a:xfrm>
            <a:off x="3760470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4" name="Google Shape;354;p31"/>
          <p:cNvSpPr/>
          <p:nvPr/>
        </p:nvSpPr>
        <p:spPr>
          <a:xfrm>
            <a:off x="4109085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1"/>
          <p:cNvSpPr/>
          <p:nvPr/>
        </p:nvSpPr>
        <p:spPr>
          <a:xfrm>
            <a:off x="4457700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6" name="Google Shape;356;p31"/>
          <p:cNvSpPr/>
          <p:nvPr/>
        </p:nvSpPr>
        <p:spPr>
          <a:xfrm>
            <a:off x="4792461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7" name="Google Shape;357;p31"/>
          <p:cNvSpPr/>
          <p:nvPr/>
        </p:nvSpPr>
        <p:spPr>
          <a:xfrm>
            <a:off x="5134149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1"/>
          <p:cNvSpPr/>
          <p:nvPr/>
        </p:nvSpPr>
        <p:spPr>
          <a:xfrm>
            <a:off x="5482763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9" name="Google Shape;359;p31"/>
          <p:cNvSpPr/>
          <p:nvPr/>
        </p:nvSpPr>
        <p:spPr>
          <a:xfrm>
            <a:off x="5817525" y="3086100"/>
            <a:ext cx="338327" cy="192024"/>
          </a:xfrm>
          <a:prstGeom prst="rect">
            <a:avLst/>
          </a:prstGeom>
          <a:solidFill>
            <a:srgbClr val="B04242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0" name="Google Shape;360;p31"/>
          <p:cNvSpPr/>
          <p:nvPr/>
        </p:nvSpPr>
        <p:spPr>
          <a:xfrm>
            <a:off x="6166140" y="3086100"/>
            <a:ext cx="338327" cy="192024"/>
          </a:xfrm>
          <a:prstGeom prst="rect">
            <a:avLst/>
          </a:prstGeom>
          <a:solidFill>
            <a:srgbClr val="B04242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1"/>
          <p:cNvSpPr/>
          <p:nvPr/>
        </p:nvSpPr>
        <p:spPr>
          <a:xfrm>
            <a:off x="6500901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2" name="Google Shape;362;p31"/>
          <p:cNvSpPr/>
          <p:nvPr/>
        </p:nvSpPr>
        <p:spPr>
          <a:xfrm>
            <a:off x="6849516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31"/>
          <p:cNvSpPr/>
          <p:nvPr/>
        </p:nvSpPr>
        <p:spPr>
          <a:xfrm>
            <a:off x="7198131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31"/>
          <p:cNvSpPr/>
          <p:nvPr/>
        </p:nvSpPr>
        <p:spPr>
          <a:xfrm>
            <a:off x="7574454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31"/>
          <p:cNvSpPr/>
          <p:nvPr/>
        </p:nvSpPr>
        <p:spPr>
          <a:xfrm>
            <a:off x="7957703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6" name="Google Shape;366;p31"/>
          <p:cNvSpPr/>
          <p:nvPr/>
        </p:nvSpPr>
        <p:spPr>
          <a:xfrm>
            <a:off x="8306318" y="3086100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7" name="Google Shape;367;p31"/>
          <p:cNvSpPr txBox="1"/>
          <p:nvPr/>
        </p:nvSpPr>
        <p:spPr>
          <a:xfrm>
            <a:off x="561775" y="3415284"/>
            <a:ext cx="1696515" cy="206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Sprint 5 · Rendimiento / usabilidad</a:t>
            </a:r>
            <a:endParaRPr sz="1100"/>
          </a:p>
        </p:txBody>
      </p:sp>
      <p:sp>
        <p:nvSpPr>
          <p:cNvPr id="368" name="Google Shape;368;p31"/>
          <p:cNvSpPr/>
          <p:nvPr/>
        </p:nvSpPr>
        <p:spPr>
          <a:xfrm>
            <a:off x="2366010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2714625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0" name="Google Shape;370;p31"/>
          <p:cNvSpPr/>
          <p:nvPr/>
        </p:nvSpPr>
        <p:spPr>
          <a:xfrm>
            <a:off x="3063240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31"/>
          <p:cNvSpPr/>
          <p:nvPr/>
        </p:nvSpPr>
        <p:spPr>
          <a:xfrm>
            <a:off x="3411855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31"/>
          <p:cNvSpPr/>
          <p:nvPr/>
        </p:nvSpPr>
        <p:spPr>
          <a:xfrm>
            <a:off x="3760470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3" name="Google Shape;373;p31"/>
          <p:cNvSpPr/>
          <p:nvPr/>
        </p:nvSpPr>
        <p:spPr>
          <a:xfrm>
            <a:off x="4109085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4" name="Google Shape;374;p31"/>
          <p:cNvSpPr/>
          <p:nvPr/>
        </p:nvSpPr>
        <p:spPr>
          <a:xfrm>
            <a:off x="4457700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5" name="Google Shape;375;p31"/>
          <p:cNvSpPr/>
          <p:nvPr/>
        </p:nvSpPr>
        <p:spPr>
          <a:xfrm>
            <a:off x="4792461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5134149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7" name="Google Shape;377;p31"/>
          <p:cNvSpPr/>
          <p:nvPr/>
        </p:nvSpPr>
        <p:spPr>
          <a:xfrm>
            <a:off x="5482763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31"/>
          <p:cNvSpPr/>
          <p:nvPr/>
        </p:nvSpPr>
        <p:spPr>
          <a:xfrm>
            <a:off x="5817525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9" name="Google Shape;379;p31"/>
          <p:cNvSpPr/>
          <p:nvPr/>
        </p:nvSpPr>
        <p:spPr>
          <a:xfrm>
            <a:off x="6166140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31"/>
          <p:cNvSpPr/>
          <p:nvPr/>
        </p:nvSpPr>
        <p:spPr>
          <a:xfrm>
            <a:off x="6500901" y="3415284"/>
            <a:ext cx="338327" cy="192024"/>
          </a:xfrm>
          <a:prstGeom prst="rect">
            <a:avLst/>
          </a:prstGeom>
          <a:solidFill>
            <a:srgbClr val="E8972E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1" name="Google Shape;381;p31"/>
          <p:cNvSpPr/>
          <p:nvPr/>
        </p:nvSpPr>
        <p:spPr>
          <a:xfrm>
            <a:off x="6849516" y="3415284"/>
            <a:ext cx="338327" cy="192024"/>
          </a:xfrm>
          <a:prstGeom prst="rect">
            <a:avLst/>
          </a:prstGeom>
          <a:solidFill>
            <a:srgbClr val="E8972E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2" name="Google Shape;382;p31"/>
          <p:cNvSpPr/>
          <p:nvPr/>
        </p:nvSpPr>
        <p:spPr>
          <a:xfrm>
            <a:off x="7198131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3" name="Google Shape;383;p31"/>
          <p:cNvSpPr/>
          <p:nvPr/>
        </p:nvSpPr>
        <p:spPr>
          <a:xfrm>
            <a:off x="7574454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31"/>
          <p:cNvSpPr/>
          <p:nvPr/>
        </p:nvSpPr>
        <p:spPr>
          <a:xfrm>
            <a:off x="7957703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5" name="Google Shape;385;p31"/>
          <p:cNvSpPr/>
          <p:nvPr/>
        </p:nvSpPr>
        <p:spPr>
          <a:xfrm>
            <a:off x="8306318" y="3415284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31"/>
          <p:cNvSpPr txBox="1"/>
          <p:nvPr/>
        </p:nvSpPr>
        <p:spPr>
          <a:xfrm>
            <a:off x="561775" y="3744456"/>
            <a:ext cx="1696515" cy="206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b="0" dirty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Sprint 6 · Certificación / RC</a:t>
            </a:r>
            <a:endParaRPr sz="1100" dirty="0"/>
          </a:p>
        </p:txBody>
      </p:sp>
      <p:sp>
        <p:nvSpPr>
          <p:cNvPr id="387" name="Google Shape;387;p31"/>
          <p:cNvSpPr/>
          <p:nvPr/>
        </p:nvSpPr>
        <p:spPr>
          <a:xfrm>
            <a:off x="2366010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31"/>
          <p:cNvSpPr/>
          <p:nvPr/>
        </p:nvSpPr>
        <p:spPr>
          <a:xfrm>
            <a:off x="2714625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31"/>
          <p:cNvSpPr/>
          <p:nvPr/>
        </p:nvSpPr>
        <p:spPr>
          <a:xfrm>
            <a:off x="3063240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31"/>
          <p:cNvSpPr/>
          <p:nvPr/>
        </p:nvSpPr>
        <p:spPr>
          <a:xfrm>
            <a:off x="3411855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31"/>
          <p:cNvSpPr/>
          <p:nvPr/>
        </p:nvSpPr>
        <p:spPr>
          <a:xfrm>
            <a:off x="3760470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31"/>
          <p:cNvSpPr/>
          <p:nvPr/>
        </p:nvSpPr>
        <p:spPr>
          <a:xfrm>
            <a:off x="4109085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31"/>
          <p:cNvSpPr/>
          <p:nvPr/>
        </p:nvSpPr>
        <p:spPr>
          <a:xfrm>
            <a:off x="4457700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31"/>
          <p:cNvSpPr/>
          <p:nvPr/>
        </p:nvSpPr>
        <p:spPr>
          <a:xfrm>
            <a:off x="4792461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31"/>
          <p:cNvSpPr/>
          <p:nvPr/>
        </p:nvSpPr>
        <p:spPr>
          <a:xfrm>
            <a:off x="5134149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31"/>
          <p:cNvSpPr/>
          <p:nvPr/>
        </p:nvSpPr>
        <p:spPr>
          <a:xfrm>
            <a:off x="5482763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31"/>
          <p:cNvSpPr/>
          <p:nvPr/>
        </p:nvSpPr>
        <p:spPr>
          <a:xfrm>
            <a:off x="5817525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31"/>
          <p:cNvSpPr/>
          <p:nvPr/>
        </p:nvSpPr>
        <p:spPr>
          <a:xfrm>
            <a:off x="6166140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31"/>
          <p:cNvSpPr/>
          <p:nvPr/>
        </p:nvSpPr>
        <p:spPr>
          <a:xfrm>
            <a:off x="6500901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31"/>
          <p:cNvSpPr/>
          <p:nvPr/>
        </p:nvSpPr>
        <p:spPr>
          <a:xfrm>
            <a:off x="6849516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31"/>
          <p:cNvSpPr/>
          <p:nvPr/>
        </p:nvSpPr>
        <p:spPr>
          <a:xfrm>
            <a:off x="7198131" y="3744468"/>
            <a:ext cx="338327" cy="192024"/>
          </a:xfrm>
          <a:prstGeom prst="rect">
            <a:avLst/>
          </a:prstGeom>
          <a:solidFill>
            <a:srgbClr val="1D2E46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31"/>
          <p:cNvSpPr/>
          <p:nvPr/>
        </p:nvSpPr>
        <p:spPr>
          <a:xfrm>
            <a:off x="7574454" y="3744468"/>
            <a:ext cx="338327" cy="192024"/>
          </a:xfrm>
          <a:prstGeom prst="rect">
            <a:avLst/>
          </a:prstGeom>
          <a:solidFill>
            <a:srgbClr val="1D2E46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31"/>
          <p:cNvSpPr/>
          <p:nvPr/>
        </p:nvSpPr>
        <p:spPr>
          <a:xfrm>
            <a:off x="7957703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31"/>
          <p:cNvSpPr/>
          <p:nvPr/>
        </p:nvSpPr>
        <p:spPr>
          <a:xfrm>
            <a:off x="8306318" y="3744468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31"/>
          <p:cNvSpPr txBox="1"/>
          <p:nvPr/>
        </p:nvSpPr>
        <p:spPr>
          <a:xfrm>
            <a:off x="561775" y="4073652"/>
            <a:ext cx="1696515" cy="206400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800" b="0" dirty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Fase 3 · Sprint 7 · Cierre y defensa</a:t>
            </a:r>
            <a:endParaRPr sz="1100" dirty="0"/>
          </a:p>
        </p:txBody>
      </p:sp>
      <p:sp>
        <p:nvSpPr>
          <p:cNvPr id="406" name="Google Shape;406;p31"/>
          <p:cNvSpPr/>
          <p:nvPr/>
        </p:nvSpPr>
        <p:spPr>
          <a:xfrm>
            <a:off x="2366010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31"/>
          <p:cNvSpPr/>
          <p:nvPr/>
        </p:nvSpPr>
        <p:spPr>
          <a:xfrm>
            <a:off x="2714625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31"/>
          <p:cNvSpPr/>
          <p:nvPr/>
        </p:nvSpPr>
        <p:spPr>
          <a:xfrm>
            <a:off x="3063240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9" name="Google Shape;409;p31"/>
          <p:cNvSpPr/>
          <p:nvPr/>
        </p:nvSpPr>
        <p:spPr>
          <a:xfrm>
            <a:off x="3411855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0" name="Google Shape;410;p31"/>
          <p:cNvSpPr/>
          <p:nvPr/>
        </p:nvSpPr>
        <p:spPr>
          <a:xfrm>
            <a:off x="3760470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1" name="Google Shape;411;p31"/>
          <p:cNvSpPr/>
          <p:nvPr/>
        </p:nvSpPr>
        <p:spPr>
          <a:xfrm>
            <a:off x="4109085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2" name="Google Shape;412;p31"/>
          <p:cNvSpPr/>
          <p:nvPr/>
        </p:nvSpPr>
        <p:spPr>
          <a:xfrm>
            <a:off x="4457700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3" name="Google Shape;413;p31"/>
          <p:cNvSpPr/>
          <p:nvPr/>
        </p:nvSpPr>
        <p:spPr>
          <a:xfrm>
            <a:off x="4792461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31"/>
          <p:cNvSpPr/>
          <p:nvPr/>
        </p:nvSpPr>
        <p:spPr>
          <a:xfrm>
            <a:off x="5134149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31"/>
          <p:cNvSpPr/>
          <p:nvPr/>
        </p:nvSpPr>
        <p:spPr>
          <a:xfrm>
            <a:off x="5482763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6" name="Google Shape;416;p31"/>
          <p:cNvSpPr/>
          <p:nvPr/>
        </p:nvSpPr>
        <p:spPr>
          <a:xfrm>
            <a:off x="5817525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7" name="Google Shape;417;p31"/>
          <p:cNvSpPr/>
          <p:nvPr/>
        </p:nvSpPr>
        <p:spPr>
          <a:xfrm>
            <a:off x="6166140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8" name="Google Shape;418;p31"/>
          <p:cNvSpPr/>
          <p:nvPr/>
        </p:nvSpPr>
        <p:spPr>
          <a:xfrm>
            <a:off x="6500901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31"/>
          <p:cNvSpPr/>
          <p:nvPr/>
        </p:nvSpPr>
        <p:spPr>
          <a:xfrm>
            <a:off x="6849516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0" name="Google Shape;420;p31"/>
          <p:cNvSpPr/>
          <p:nvPr/>
        </p:nvSpPr>
        <p:spPr>
          <a:xfrm>
            <a:off x="7198131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1" name="Google Shape;421;p31"/>
          <p:cNvSpPr/>
          <p:nvPr/>
        </p:nvSpPr>
        <p:spPr>
          <a:xfrm>
            <a:off x="7574454" y="4073652"/>
            <a:ext cx="338327" cy="192024"/>
          </a:xfrm>
          <a:prstGeom prst="rect">
            <a:avLst/>
          </a:prstGeom>
          <a:solidFill>
            <a:srgbClr val="F1F5F9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31"/>
          <p:cNvSpPr/>
          <p:nvPr/>
        </p:nvSpPr>
        <p:spPr>
          <a:xfrm>
            <a:off x="7957703" y="4073652"/>
            <a:ext cx="338327" cy="192024"/>
          </a:xfrm>
          <a:prstGeom prst="rect">
            <a:avLst/>
          </a:prstGeom>
          <a:solidFill>
            <a:srgbClr val="385F91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3" name="Google Shape;423;p31"/>
          <p:cNvSpPr/>
          <p:nvPr/>
        </p:nvSpPr>
        <p:spPr>
          <a:xfrm>
            <a:off x="8306318" y="4073652"/>
            <a:ext cx="338327" cy="192024"/>
          </a:xfrm>
          <a:prstGeom prst="rect">
            <a:avLst/>
          </a:prstGeom>
          <a:solidFill>
            <a:srgbClr val="385F91"/>
          </a:solidFill>
          <a:ln w="9525" cap="flat" cmpd="sng">
            <a:solidFill>
              <a:srgbClr val="FFFFFF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31"/>
          <p:cNvSpPr txBox="1"/>
          <p:nvPr/>
        </p:nvSpPr>
        <p:spPr>
          <a:xfrm>
            <a:off x="431916" y="4828084"/>
            <a:ext cx="8229600" cy="2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800" b="0">
                <a:solidFill>
                  <a:srgbClr val="5F6B78"/>
                </a:solidFill>
                <a:latin typeface="Arial"/>
              </a:rPr>
              <a:t>Estado: Sprint 1 y 2 cerrados · Sprint 3 completado · Sprint 4 inicia 12/10 · Sprints 5–7 planificados.</a:t>
            </a:r>
            <a:endParaRPr sz="1100"/>
          </a:p>
        </p:txBody>
      </p:sp>
      <p:sp>
        <p:nvSpPr>
          <p:cNvPr id="425" name="Google Shape;425;p31"/>
          <p:cNvSpPr txBox="1"/>
          <p:nvPr/>
        </p:nvSpPr>
        <p:spPr>
          <a:xfrm>
            <a:off x="-271897" y="245686"/>
            <a:ext cx="8229600" cy="34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 dirty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Cronograma para el desarrollo del proyecto</a:t>
            </a:r>
            <a:endParaRPr sz="1100" dirty="0"/>
          </a:p>
        </p:txBody>
      </p:sp>
      <p:pic>
        <p:nvPicPr>
          <p:cNvPr id="426" name="Google Shape;426;p31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5" y="270350"/>
            <a:ext cx="1078492" cy="3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DFF609D5-26E7-C4F8-1F6F-1391CBE40BB0}"/>
              </a:ext>
            </a:extLst>
          </p:cNvPr>
          <p:cNvSpPr/>
          <p:nvPr/>
        </p:nvSpPr>
        <p:spPr>
          <a:xfrm>
            <a:off x="182880" y="927571"/>
            <a:ext cx="8752289" cy="3709822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 dirty="0"/>
          </a:p>
        </p:txBody>
      </p:sp>
      <p:pic>
        <p:nvPicPr>
          <p:cNvPr id="431" name="Google Shape;431;p32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432" name="Google Shape;432;p32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33" name="Google Shape;433;p32"/>
          <p:cNvSpPr txBox="1"/>
          <p:nvPr/>
        </p:nvSpPr>
        <p:spPr>
          <a:xfrm>
            <a:off x="311795" y="516068"/>
            <a:ext cx="8229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 dirty="0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Modelo 4+1 separación </a:t>
            </a:r>
            <a:r>
              <a:rPr lang="es-419" sz="1100" b="1" dirty="0" err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r>
              <a:rPr lang="es-419" sz="1100" b="1" dirty="0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 / </a:t>
            </a:r>
            <a:r>
              <a:rPr lang="es-419" sz="1100" b="1" dirty="0" err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r>
              <a:rPr lang="es-419" sz="1100" b="1" dirty="0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 / Persistencia.</a:t>
            </a:r>
            <a:endParaRPr sz="1100" dirty="0"/>
          </a:p>
        </p:txBody>
      </p:sp>
      <p:sp>
        <p:nvSpPr>
          <p:cNvPr id="435" name="Google Shape;435;p32"/>
          <p:cNvSpPr/>
          <p:nvPr/>
        </p:nvSpPr>
        <p:spPr>
          <a:xfrm>
            <a:off x="182880" y="4696967"/>
            <a:ext cx="2788920" cy="283464"/>
          </a:xfrm>
          <a:prstGeom prst="roundRect">
            <a:avLst>
              <a:gd name="adj" fmla="val 16667"/>
            </a:avLst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32"/>
          <p:cNvSpPr txBox="1"/>
          <p:nvPr/>
        </p:nvSpPr>
        <p:spPr>
          <a:xfrm>
            <a:off x="182880" y="4715255"/>
            <a:ext cx="2788920" cy="201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850" b="1">
                <a:solidFill>
                  <a:srgbClr val="FFFFFF"/>
                </a:solidFill>
                <a:latin typeface="Arial"/>
              </a:rPr>
              <a:t>Ventaja: capas separadas</a:t>
            </a:r>
            <a:endParaRPr sz="1100"/>
          </a:p>
        </p:txBody>
      </p:sp>
      <p:pic>
        <p:nvPicPr>
          <p:cNvPr id="437" name="Google Shape;437;p32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5" y="61991"/>
            <a:ext cx="1078492" cy="3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Rounded Rectangle 441"/>
          <p:cNvSpPr/>
          <p:nvPr/>
        </p:nvSpPr>
        <p:spPr>
          <a:xfrm>
            <a:off x="3182112" y="4696967"/>
            <a:ext cx="2788920" cy="283464"/>
          </a:xfrm>
          <a:prstGeom prst="roundRect">
            <a:avLst/>
          </a:prstGeom>
          <a:solidFill>
            <a:srgbClr val="E897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TextBox 442"/>
          <p:cNvSpPr txBox="1"/>
          <p:nvPr/>
        </p:nvSpPr>
        <p:spPr>
          <a:xfrm>
            <a:off x="3182112" y="4715255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Actual: REST / JSON</a:t>
            </a:r>
          </a:p>
        </p:txBody>
      </p:sp>
      <p:sp>
        <p:nvSpPr>
          <p:cNvPr id="444" name="Rounded Rectangle 443"/>
          <p:cNvSpPr/>
          <p:nvPr/>
        </p:nvSpPr>
        <p:spPr>
          <a:xfrm>
            <a:off x="6181344" y="4696967"/>
            <a:ext cx="2788920" cy="283464"/>
          </a:xfrm>
          <a:prstGeom prst="roundRect">
            <a:avLst/>
          </a:prstGeom>
          <a:solidFill>
            <a:srgbClr val="2382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TextBox 444"/>
          <p:cNvSpPr txBox="1"/>
          <p:nvPr/>
        </p:nvSpPr>
        <p:spPr>
          <a:xfrm>
            <a:off x="6181344" y="4715255"/>
            <a:ext cx="278892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50" b="1">
                <a:solidFill>
                  <a:srgbClr val="FFFFFF"/>
                </a:solidFill>
                <a:latin typeface="Arial"/>
              </a:rPr>
              <a:t>Mejora futura: hosting + tiempo real</a:t>
            </a: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C79EF33F-0183-D763-CABE-3D807272DA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170" y="1025733"/>
            <a:ext cx="7931660" cy="3442610"/>
          </a:xfrm>
          <a:prstGeom prst="rect">
            <a:avLst/>
          </a:prstGeom>
        </p:spPr>
      </p:pic>
    </p:spTree>
  </p:cSld>
  <p:clrMapOvr>
    <a:masterClrMapping/>
  </p:clrMapOvr>
  <p:transition spd="slow">
    <p:fade thruBlk="1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742E714B-F5FB-0E06-CEFC-D9E858989A9D}"/>
              </a:ext>
            </a:extLst>
          </p:cNvPr>
          <p:cNvSpPr/>
          <p:nvPr/>
        </p:nvSpPr>
        <p:spPr>
          <a:xfrm>
            <a:off x="83127" y="727365"/>
            <a:ext cx="8950038" cy="343592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42" name="Google Shape;442;p33" descr="Vista de Desarrollo - Arquitectura de Paquetes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84220" y="921327"/>
            <a:ext cx="8775560" cy="2968854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33"/>
          <p:cNvSpPr/>
          <p:nvPr/>
        </p:nvSpPr>
        <p:spPr>
          <a:xfrm>
            <a:off x="3030050" y="4343400"/>
            <a:ext cx="2674500" cy="367760"/>
          </a:xfrm>
          <a:prstGeom prst="roundRect">
            <a:avLst>
              <a:gd name="adj" fmla="val 16667"/>
            </a:avLst>
          </a:prstGeom>
          <a:solidFill>
            <a:srgbClr val="23825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33"/>
          <p:cNvSpPr txBox="1"/>
          <p:nvPr/>
        </p:nvSpPr>
        <p:spPr>
          <a:xfrm>
            <a:off x="3030050" y="4423151"/>
            <a:ext cx="26745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ctr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1" dirty="0">
                <a:solidFill>
                  <a:srgbClr val="FFFFFF"/>
                </a:solidFill>
                <a:latin typeface="Arial"/>
              </a:rPr>
              <a:t>Vista de </a:t>
            </a:r>
            <a:r>
              <a:rPr sz="900" b="1" dirty="0" err="1">
                <a:solidFill>
                  <a:srgbClr val="FFFFFF"/>
                </a:solidFill>
                <a:latin typeface="Arial"/>
              </a:rPr>
              <a:t>desarrollo</a:t>
            </a:r>
            <a:r>
              <a:rPr sz="900" b="1" dirty="0">
                <a:solidFill>
                  <a:srgbClr val="FFFFFF"/>
                </a:solidFill>
                <a:latin typeface="Arial"/>
              </a:rPr>
              <a:t> · </a:t>
            </a:r>
            <a:r>
              <a:rPr sz="900" b="1" dirty="0" err="1">
                <a:solidFill>
                  <a:srgbClr val="FFFFFF"/>
                </a:solidFill>
                <a:latin typeface="Arial"/>
              </a:rPr>
              <a:t>seguridad</a:t>
            </a:r>
            <a:r>
              <a:rPr sz="9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Arial"/>
              </a:rPr>
              <a:t>validada</a:t>
            </a:r>
            <a:r>
              <a:rPr sz="900" b="1" dirty="0">
                <a:solidFill>
                  <a:srgbClr val="FFFFFF"/>
                </a:solidFill>
                <a:latin typeface="Arial"/>
              </a:rPr>
              <a:t> </a:t>
            </a:r>
            <a:r>
              <a:rPr sz="900" b="1" dirty="0" err="1">
                <a:solidFill>
                  <a:srgbClr val="FFFFFF"/>
                </a:solidFill>
                <a:latin typeface="Arial"/>
              </a:rPr>
              <a:t>en</a:t>
            </a:r>
            <a:r>
              <a:rPr sz="900" b="1" dirty="0">
                <a:solidFill>
                  <a:srgbClr val="FFFFFF"/>
                </a:solidFill>
                <a:latin typeface="Arial"/>
              </a:rPr>
              <a:t> backend</a:t>
            </a:r>
            <a:endParaRPr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: esquinas redondeadas 1">
            <a:extLst>
              <a:ext uri="{FF2B5EF4-FFF2-40B4-BE49-F238E27FC236}">
                <a16:creationId xmlns:a16="http://schemas.microsoft.com/office/drawing/2014/main" id="{30D356F5-8563-D4FE-D462-D9354448C6AA}"/>
              </a:ext>
            </a:extLst>
          </p:cNvPr>
          <p:cNvSpPr/>
          <p:nvPr/>
        </p:nvSpPr>
        <p:spPr>
          <a:xfrm>
            <a:off x="471057" y="566796"/>
            <a:ext cx="8277052" cy="4241964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49" name="Google Shape;449;p34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961909" y="5677"/>
            <a:ext cx="2182090" cy="484748"/>
          </a:xfrm>
          <a:prstGeom prst="rect">
            <a:avLst/>
          </a:prstGeom>
          <a:noFill/>
          <a:ln>
            <a:noFill/>
          </a:ln>
        </p:spPr>
      </p:pic>
      <p:sp>
        <p:nvSpPr>
          <p:cNvPr id="450" name="Google Shape;450;p34"/>
          <p:cNvSpPr txBox="1"/>
          <p:nvPr/>
        </p:nvSpPr>
        <p:spPr>
          <a:xfrm>
            <a:off x="0" y="1074491"/>
            <a:ext cx="9143999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Modelo de datos</a:t>
            </a:r>
            <a:endParaRPr sz="1100"/>
          </a:p>
        </p:txBody>
      </p:sp>
      <p:cxnSp>
        <p:nvCxnSpPr>
          <p:cNvPr id="451" name="Google Shape;451;p34"/>
          <p:cNvCxnSpPr/>
          <p:nvPr/>
        </p:nvCxnSpPr>
        <p:spPr>
          <a:xfrm>
            <a:off x="0" y="478465"/>
            <a:ext cx="3064213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pic>
        <p:nvPicPr>
          <p:cNvPr id="452" name="Google Shape;452;p34" descr="Vista Logica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48309" y="692370"/>
            <a:ext cx="7566743" cy="3972665"/>
          </a:xfrm>
          <a:prstGeom prst="rect">
            <a:avLst/>
          </a:prstGeom>
          <a:noFill/>
          <a:ln>
            <a:noFill/>
          </a:ln>
        </p:spPr>
      </p:pic>
      <p:sp>
        <p:nvSpPr>
          <p:cNvPr id="453" name="Google Shape;453;p34"/>
          <p:cNvSpPr txBox="1"/>
          <p:nvPr/>
        </p:nvSpPr>
        <p:spPr>
          <a:xfrm>
            <a:off x="582930" y="4808760"/>
            <a:ext cx="80238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 dirty="0" err="1">
                <a:solidFill>
                  <a:srgbClr val="5F6B78"/>
                </a:solidFill>
                <a:latin typeface="Arial"/>
              </a:rPr>
              <a:t>Relaciones</a:t>
            </a:r>
            <a:r>
              <a:rPr sz="950" b="0" dirty="0">
                <a:solidFill>
                  <a:srgbClr val="5F6B78"/>
                </a:solidFill>
                <a:latin typeface="Arial"/>
              </a:rPr>
              <a:t> clave: Usuario → Jornada / Tarea / </a:t>
            </a:r>
            <a:r>
              <a:rPr sz="950" b="0" dirty="0" err="1">
                <a:solidFill>
                  <a:srgbClr val="5F6B78"/>
                </a:solidFill>
                <a:latin typeface="Arial"/>
              </a:rPr>
              <a:t>Mensaje</a:t>
            </a:r>
            <a:r>
              <a:rPr sz="950" b="0" dirty="0">
                <a:solidFill>
                  <a:srgbClr val="5F6B78"/>
                </a:solidFill>
                <a:latin typeface="Arial"/>
              </a:rPr>
              <a:t> · Tarea → </a:t>
            </a:r>
            <a:r>
              <a:rPr sz="950" b="0" dirty="0" err="1">
                <a:solidFill>
                  <a:srgbClr val="5F6B78"/>
                </a:solidFill>
                <a:latin typeface="Arial"/>
              </a:rPr>
              <a:t>Bitácora</a:t>
            </a:r>
            <a:r>
              <a:rPr sz="950" b="0" dirty="0">
                <a:solidFill>
                  <a:srgbClr val="5F6B78"/>
                </a:solidFill>
                <a:latin typeface="Arial"/>
              </a:rPr>
              <a:t> / </a:t>
            </a:r>
            <a:r>
              <a:rPr sz="950" b="0" dirty="0" err="1">
                <a:solidFill>
                  <a:srgbClr val="5F6B78"/>
                </a:solidFill>
                <a:latin typeface="Arial"/>
              </a:rPr>
              <a:t>Evidencia</a:t>
            </a:r>
            <a:r>
              <a:rPr sz="950" b="0" dirty="0">
                <a:solidFill>
                  <a:srgbClr val="5F6B78"/>
                </a:solidFill>
                <a:latin typeface="Arial"/>
              </a:rPr>
              <a:t> / </a:t>
            </a:r>
            <a:r>
              <a:rPr sz="950" b="0" dirty="0" err="1">
                <a:solidFill>
                  <a:srgbClr val="5F6B78"/>
                </a:solidFill>
                <a:latin typeface="Arial"/>
              </a:rPr>
              <a:t>Aprobación</a:t>
            </a:r>
            <a:r>
              <a:rPr sz="950" b="0" dirty="0">
                <a:solidFill>
                  <a:srgbClr val="5F6B78"/>
                </a:solidFill>
                <a:latin typeface="Arial"/>
              </a:rPr>
              <a:t> · </a:t>
            </a:r>
            <a:r>
              <a:rPr sz="950" b="0" dirty="0" err="1">
                <a:solidFill>
                  <a:srgbClr val="5F6B78"/>
                </a:solidFill>
                <a:latin typeface="Arial"/>
              </a:rPr>
              <a:t>Diseño</a:t>
            </a:r>
            <a:r>
              <a:rPr sz="950" b="0" dirty="0">
                <a:solidFill>
                  <a:srgbClr val="5F6B78"/>
                </a:solidFill>
                <a:latin typeface="Arial"/>
              </a:rPr>
              <a:t> </a:t>
            </a:r>
            <a:r>
              <a:rPr sz="950" b="0" dirty="0" err="1">
                <a:solidFill>
                  <a:srgbClr val="5F6B78"/>
                </a:solidFill>
                <a:latin typeface="Arial"/>
              </a:rPr>
              <a:t>relacional</a:t>
            </a:r>
            <a:r>
              <a:rPr sz="950" b="0" dirty="0">
                <a:solidFill>
                  <a:srgbClr val="5F6B78"/>
                </a:solidFill>
                <a:latin typeface="Arial"/>
              </a:rPr>
              <a:t> para </a:t>
            </a:r>
            <a:r>
              <a:rPr sz="950" b="0" dirty="0" err="1">
                <a:solidFill>
                  <a:srgbClr val="5F6B78"/>
                </a:solidFill>
                <a:latin typeface="Arial"/>
              </a:rPr>
              <a:t>mantener</a:t>
            </a:r>
            <a:r>
              <a:rPr sz="950" b="0" dirty="0">
                <a:solidFill>
                  <a:srgbClr val="5F6B78"/>
                </a:solidFill>
                <a:latin typeface="Arial"/>
              </a:rPr>
              <a:t> </a:t>
            </a:r>
            <a:r>
              <a:rPr sz="950" b="0" dirty="0" err="1">
                <a:solidFill>
                  <a:srgbClr val="5F6B78"/>
                </a:solidFill>
                <a:latin typeface="Arial"/>
              </a:rPr>
              <a:t>trazabilidad</a:t>
            </a:r>
            <a:r>
              <a:rPr sz="950" b="0" dirty="0">
                <a:solidFill>
                  <a:srgbClr val="5F6B78"/>
                </a:solidFill>
                <a:latin typeface="Arial"/>
              </a:rPr>
              <a:t>.</a:t>
            </a:r>
            <a:endParaRPr sz="1100" dirty="0"/>
          </a:p>
        </p:txBody>
      </p:sp>
      <p:pic>
        <p:nvPicPr>
          <p:cNvPr id="454" name="Google Shape;454;p34" title="Imagen de ChatGPT 30 sept 2026, 06_16_02 a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8170" y="130750"/>
            <a:ext cx="1078492" cy="3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35"/>
          <p:cNvSpPr/>
          <p:nvPr/>
        </p:nvSpPr>
        <p:spPr>
          <a:xfrm>
            <a:off x="358903" y="1371600"/>
            <a:ext cx="306115" cy="1200150"/>
          </a:xfrm>
          <a:prstGeom prst="rect">
            <a:avLst/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35"/>
          <p:cNvSpPr/>
          <p:nvPr/>
        </p:nvSpPr>
        <p:spPr>
          <a:xfrm>
            <a:off x="3225547" y="1371600"/>
            <a:ext cx="306115" cy="1200150"/>
          </a:xfrm>
          <a:prstGeom prst="rect">
            <a:avLst/>
          </a:prstGeom>
          <a:solidFill>
            <a:srgbClr val="23825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35"/>
          <p:cNvSpPr/>
          <p:nvPr/>
        </p:nvSpPr>
        <p:spPr>
          <a:xfrm>
            <a:off x="6092190" y="1371600"/>
            <a:ext cx="306115" cy="1200150"/>
          </a:xfrm>
          <a:prstGeom prst="rect">
            <a:avLst/>
          </a:prstGeom>
          <a:solidFill>
            <a:srgbClr val="B042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35"/>
          <p:cNvSpPr/>
          <p:nvPr/>
        </p:nvSpPr>
        <p:spPr>
          <a:xfrm>
            <a:off x="358903" y="2880360"/>
            <a:ext cx="306115" cy="1200150"/>
          </a:xfrm>
          <a:prstGeom prst="rect">
            <a:avLst/>
          </a:prstGeom>
          <a:solidFill>
            <a:srgbClr val="E897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35"/>
          <p:cNvSpPr/>
          <p:nvPr/>
        </p:nvSpPr>
        <p:spPr>
          <a:xfrm>
            <a:off x="3225547" y="2880360"/>
            <a:ext cx="306115" cy="1200150"/>
          </a:xfrm>
          <a:prstGeom prst="rect">
            <a:avLst/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35"/>
          <p:cNvSpPr/>
          <p:nvPr/>
        </p:nvSpPr>
        <p:spPr>
          <a:xfrm>
            <a:off x="6092190" y="2880360"/>
            <a:ext cx="306115" cy="1200150"/>
          </a:xfrm>
          <a:prstGeom prst="rect">
            <a:avLst/>
          </a:prstGeom>
          <a:solidFill>
            <a:srgbClr val="1D2E4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59" name="Google Shape;459;p35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35"/>
          <p:cNvSpPr txBox="1"/>
          <p:nvPr/>
        </p:nvSpPr>
        <p:spPr>
          <a:xfrm>
            <a:off x="0" y="816523"/>
            <a:ext cx="9144000" cy="4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27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Tecnologías utilizadas</a:t>
            </a:r>
            <a:endParaRPr sz="1100"/>
          </a:p>
        </p:txBody>
      </p:sp>
      <p:cxnSp>
        <p:nvCxnSpPr>
          <p:cNvPr id="461" name="Google Shape;461;p35"/>
          <p:cNvCxnSpPr/>
          <p:nvPr/>
        </p:nvCxnSpPr>
        <p:spPr>
          <a:xfrm>
            <a:off x="0" y="568520"/>
            <a:ext cx="3064213" cy="0"/>
          </a:xfrm>
          <a:prstGeom prst="straightConnector1">
            <a:avLst/>
          </a:prstGeom>
          <a:noFill/>
          <a:ln w="15875" cap="flat" cmpd="sng">
            <a:solidFill>
              <a:srgbClr val="F5F7FC"/>
            </a:solidFill>
            <a:prstDash val="solid"/>
            <a:miter lim="8000"/>
            <a:headEnd type="none" w="sm" len="sm"/>
            <a:tailEnd type="none" w="sm" len="sm"/>
          </a:ln>
        </p:spPr>
      </p:cxnSp>
      <p:sp>
        <p:nvSpPr>
          <p:cNvPr id="462" name="Google Shape;462;p35"/>
          <p:cNvSpPr/>
          <p:nvPr/>
        </p:nvSpPr>
        <p:spPr>
          <a:xfrm>
            <a:off x="480060" y="1371600"/>
            <a:ext cx="2571750" cy="12001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35"/>
          <p:cNvSpPr txBox="1"/>
          <p:nvPr/>
        </p:nvSpPr>
        <p:spPr>
          <a:xfrm>
            <a:off x="603503" y="1453896"/>
            <a:ext cx="236601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Frontend</a:t>
            </a:r>
            <a:endParaRPr sz="1100"/>
          </a:p>
        </p:txBody>
      </p:sp>
      <p:sp>
        <p:nvSpPr>
          <p:cNvPr id="465" name="Google Shape;465;p35"/>
          <p:cNvSpPr txBox="1"/>
          <p:nvPr/>
        </p:nvSpPr>
        <p:spPr>
          <a:xfrm>
            <a:off x="603503" y="1728216"/>
            <a:ext cx="2352294" cy="77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React · Tailwind CSS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SPA web, componentes y mapa visual.</a:t>
            </a:r>
            <a:endParaRPr sz="1100"/>
          </a:p>
        </p:txBody>
      </p:sp>
      <p:sp>
        <p:nvSpPr>
          <p:cNvPr id="466" name="Google Shape;466;p35"/>
          <p:cNvSpPr/>
          <p:nvPr/>
        </p:nvSpPr>
        <p:spPr>
          <a:xfrm>
            <a:off x="3346704" y="1371600"/>
            <a:ext cx="2571750" cy="12001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35"/>
          <p:cNvSpPr txBox="1"/>
          <p:nvPr/>
        </p:nvSpPr>
        <p:spPr>
          <a:xfrm>
            <a:off x="3470148" y="1453896"/>
            <a:ext cx="236601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Backend</a:t>
            </a:r>
            <a:endParaRPr sz="1100"/>
          </a:p>
        </p:txBody>
      </p:sp>
      <p:sp>
        <p:nvSpPr>
          <p:cNvPr id="469" name="Google Shape;469;p35"/>
          <p:cNvSpPr txBox="1"/>
          <p:nvPr/>
        </p:nvSpPr>
        <p:spPr>
          <a:xfrm>
            <a:off x="3470148" y="1728216"/>
            <a:ext cx="2352294" cy="77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Spring Boot · REST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Servicios, reglas de negocio y APIs.</a:t>
            </a:r>
            <a:endParaRPr sz="1100"/>
          </a:p>
        </p:txBody>
      </p:sp>
      <p:sp>
        <p:nvSpPr>
          <p:cNvPr id="470" name="Google Shape;470;p35"/>
          <p:cNvSpPr/>
          <p:nvPr/>
        </p:nvSpPr>
        <p:spPr>
          <a:xfrm>
            <a:off x="6213347" y="1371600"/>
            <a:ext cx="2571750" cy="12001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35"/>
          <p:cNvSpPr txBox="1"/>
          <p:nvPr/>
        </p:nvSpPr>
        <p:spPr>
          <a:xfrm>
            <a:off x="6336791" y="1453896"/>
            <a:ext cx="236601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sz="1100"/>
          </a:p>
        </p:txBody>
      </p:sp>
      <p:sp>
        <p:nvSpPr>
          <p:cNvPr id="473" name="Google Shape;473;p35"/>
          <p:cNvSpPr txBox="1"/>
          <p:nvPr/>
        </p:nvSpPr>
        <p:spPr>
          <a:xfrm>
            <a:off x="6336791" y="1728216"/>
            <a:ext cx="2352294" cy="77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Spring Security · RBAC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Autenticación, roles y protección de endpoints.</a:t>
            </a:r>
            <a:endParaRPr sz="1100"/>
          </a:p>
        </p:txBody>
      </p:sp>
      <p:sp>
        <p:nvSpPr>
          <p:cNvPr id="474" name="Google Shape;474;p35"/>
          <p:cNvSpPr/>
          <p:nvPr/>
        </p:nvSpPr>
        <p:spPr>
          <a:xfrm>
            <a:off x="480060" y="2880360"/>
            <a:ext cx="2571750" cy="12001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35"/>
          <p:cNvSpPr txBox="1"/>
          <p:nvPr/>
        </p:nvSpPr>
        <p:spPr>
          <a:xfrm>
            <a:off x="603503" y="2962656"/>
            <a:ext cx="236601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Datos</a:t>
            </a:r>
            <a:endParaRPr sz="1100"/>
          </a:p>
        </p:txBody>
      </p:sp>
      <p:sp>
        <p:nvSpPr>
          <p:cNvPr id="477" name="Google Shape;477;p35"/>
          <p:cNvSpPr txBox="1"/>
          <p:nvPr/>
        </p:nvSpPr>
        <p:spPr>
          <a:xfrm>
            <a:off x="603503" y="3236976"/>
            <a:ext cx="2352294" cy="77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MySQL · Spring Data JPA</a:t>
            </a:r>
            <a:br>
              <a:rPr lang="es-419"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Persistencia relacional e integridad.</a:t>
            </a:r>
            <a:endParaRPr sz="1100"/>
          </a:p>
        </p:txBody>
      </p:sp>
      <p:sp>
        <p:nvSpPr>
          <p:cNvPr id="478" name="Google Shape;478;p35"/>
          <p:cNvSpPr/>
          <p:nvPr/>
        </p:nvSpPr>
        <p:spPr>
          <a:xfrm>
            <a:off x="3346704" y="2880360"/>
            <a:ext cx="2571750" cy="12001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0" name="Google Shape;480;p35"/>
          <p:cNvSpPr txBox="1"/>
          <p:nvPr/>
        </p:nvSpPr>
        <p:spPr>
          <a:xfrm>
            <a:off x="3470148" y="2962656"/>
            <a:ext cx="236601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03553"/>
                </a:solidFill>
                <a:latin typeface="Arial"/>
              </a:rPr>
              <a:t>Pruebas</a:t>
            </a:r>
            <a:endParaRPr sz="1100"/>
          </a:p>
        </p:txBody>
      </p:sp>
      <p:sp>
        <p:nvSpPr>
          <p:cNvPr id="481" name="Google Shape;481;p35"/>
          <p:cNvSpPr txBox="1"/>
          <p:nvPr/>
        </p:nvSpPr>
        <p:spPr>
          <a:xfrm>
            <a:off x="3470148" y="3236976"/>
            <a:ext cx="2352294" cy="77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222222"/>
                </a:solidFill>
                <a:latin typeface="Arial"/>
              </a:rPr>
              <a:t>Postman · JUnit/MockMvc</a:t>
            </a:r>
            <a:endParaRPr sz="1100"/>
          </a:p>
          <a:p>
            <a:r>
              <a:rPr sz="900" b="0">
                <a:solidFill>
                  <a:srgbClr val="222222"/>
                </a:solidFill>
                <a:latin typeface="Arial"/>
              </a:rPr>
              <a:t>Pruebas de API, regresión y automatización.</a:t>
            </a:r>
          </a:p>
        </p:txBody>
      </p:sp>
      <p:sp>
        <p:nvSpPr>
          <p:cNvPr id="482" name="Google Shape;482;p35"/>
          <p:cNvSpPr/>
          <p:nvPr/>
        </p:nvSpPr>
        <p:spPr>
          <a:xfrm>
            <a:off x="6213347" y="2880360"/>
            <a:ext cx="2571750" cy="120015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35"/>
          <p:cNvSpPr txBox="1"/>
          <p:nvPr/>
        </p:nvSpPr>
        <p:spPr>
          <a:xfrm>
            <a:off x="6336791" y="2962656"/>
            <a:ext cx="236601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200" b="1">
                <a:solidFill>
                  <a:srgbClr val="203553"/>
                </a:solidFill>
                <a:latin typeface="Arial"/>
              </a:rPr>
              <a:t>Calidad / SCM</a:t>
            </a:r>
            <a:endParaRPr sz="1100"/>
          </a:p>
        </p:txBody>
      </p:sp>
      <p:sp>
        <p:nvSpPr>
          <p:cNvPr id="485" name="Google Shape;485;p35"/>
          <p:cNvSpPr txBox="1"/>
          <p:nvPr/>
        </p:nvSpPr>
        <p:spPr>
          <a:xfrm>
            <a:off x="6336791" y="3236976"/>
            <a:ext cx="2352294" cy="774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222222"/>
                </a:solidFill>
                <a:latin typeface="Arial"/>
              </a:rPr>
              <a:t>Git · GitHub · QA</a:t>
            </a:r>
            <a:endParaRPr sz="1100"/>
          </a:p>
          <a:p>
            <a:r>
              <a:rPr sz="900" b="0">
                <a:solidFill>
                  <a:srgbClr val="222222"/>
                </a:solidFill>
                <a:latin typeface="Arial"/>
              </a:rPr>
              <a:t>Versionado, trabajo colaborativo y evidencia.</a:t>
            </a:r>
          </a:p>
        </p:txBody>
      </p:sp>
      <p:pic>
        <p:nvPicPr>
          <p:cNvPr id="486" name="Google Shape;486;p35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5" y="270350"/>
            <a:ext cx="1078492" cy="3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BC4579F2-7F8F-DCFE-CA53-E25CF61368A9}"/>
              </a:ext>
            </a:extLst>
          </p:cNvPr>
          <p:cNvSpPr/>
          <p:nvPr/>
        </p:nvSpPr>
        <p:spPr>
          <a:xfrm>
            <a:off x="2957942" y="602673"/>
            <a:ext cx="5623934" cy="438930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91" name="Google Shape;491;p36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623343" y="0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492" name="Google Shape;492;p36"/>
          <p:cNvSpPr txBox="1"/>
          <p:nvPr/>
        </p:nvSpPr>
        <p:spPr>
          <a:xfrm>
            <a:off x="251020" y="215845"/>
            <a:ext cx="8229600" cy="298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03553"/>
                </a:solidFill>
                <a:latin typeface="Calibri"/>
              </a:rPr>
              <a:t>Flujo principal y demostración funcional</a:t>
            </a:r>
            <a:endParaRPr sz="1100"/>
          </a:p>
        </p:txBody>
      </p:sp>
      <p:sp>
        <p:nvSpPr>
          <p:cNvPr id="493" name="Google Shape;493;p36"/>
          <p:cNvSpPr/>
          <p:nvPr/>
        </p:nvSpPr>
        <p:spPr>
          <a:xfrm>
            <a:off x="551241" y="1293821"/>
            <a:ext cx="377100" cy="377100"/>
          </a:xfrm>
          <a:prstGeom prst="ellipse">
            <a:avLst/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4" name="Google Shape;494;p36"/>
          <p:cNvSpPr txBox="1"/>
          <p:nvPr/>
        </p:nvSpPr>
        <p:spPr>
          <a:xfrm>
            <a:off x="551241" y="1334969"/>
            <a:ext cx="377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1100"/>
          </a:p>
        </p:txBody>
      </p:sp>
      <p:sp>
        <p:nvSpPr>
          <p:cNvPr id="495" name="Google Shape;495;p36"/>
          <p:cNvSpPr txBox="1"/>
          <p:nvPr/>
        </p:nvSpPr>
        <p:spPr>
          <a:xfrm>
            <a:off x="1045017" y="1190951"/>
            <a:ext cx="19887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Check-in</a:t>
            </a:r>
            <a:endParaRPr sz="1100"/>
          </a:p>
        </p:txBody>
      </p:sp>
      <p:sp>
        <p:nvSpPr>
          <p:cNvPr id="496" name="Google Shape;496;p36"/>
          <p:cNvSpPr txBox="1"/>
          <p:nvPr/>
        </p:nvSpPr>
        <p:spPr>
          <a:xfrm>
            <a:off x="1045017" y="1485845"/>
            <a:ext cx="19887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Registrar jornada y presencia.</a:t>
            </a:r>
            <a:endParaRPr sz="1100"/>
          </a:p>
        </p:txBody>
      </p:sp>
      <p:sp>
        <p:nvSpPr>
          <p:cNvPr id="497" name="Google Shape;497;p36"/>
          <p:cNvSpPr/>
          <p:nvPr/>
        </p:nvSpPr>
        <p:spPr>
          <a:xfrm>
            <a:off x="550398" y="1850930"/>
            <a:ext cx="377100" cy="377100"/>
          </a:xfrm>
          <a:prstGeom prst="ellipse">
            <a:avLst/>
          </a:prstGeom>
          <a:solidFill>
            <a:srgbClr val="23825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8" name="Google Shape;498;p36"/>
          <p:cNvSpPr txBox="1"/>
          <p:nvPr/>
        </p:nvSpPr>
        <p:spPr>
          <a:xfrm>
            <a:off x="550398" y="1892078"/>
            <a:ext cx="377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1100"/>
          </a:p>
        </p:txBody>
      </p:sp>
      <p:sp>
        <p:nvSpPr>
          <p:cNvPr id="499" name="Google Shape;499;p36"/>
          <p:cNvSpPr txBox="1"/>
          <p:nvPr/>
        </p:nvSpPr>
        <p:spPr>
          <a:xfrm>
            <a:off x="1044174" y="1748060"/>
            <a:ext cx="19887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Tarea</a:t>
            </a:r>
            <a:endParaRPr sz="1100"/>
          </a:p>
        </p:txBody>
      </p:sp>
      <p:sp>
        <p:nvSpPr>
          <p:cNvPr id="500" name="Google Shape;500;p36"/>
          <p:cNvSpPr txBox="1"/>
          <p:nvPr/>
        </p:nvSpPr>
        <p:spPr>
          <a:xfrm>
            <a:off x="1044174" y="2042954"/>
            <a:ext cx="19887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Crear tarea / iniciar desde plantilla.</a:t>
            </a:r>
            <a:endParaRPr sz="1100"/>
          </a:p>
        </p:txBody>
      </p:sp>
      <p:sp>
        <p:nvSpPr>
          <p:cNvPr id="501" name="Google Shape;501;p36"/>
          <p:cNvSpPr/>
          <p:nvPr/>
        </p:nvSpPr>
        <p:spPr>
          <a:xfrm>
            <a:off x="547428" y="2404546"/>
            <a:ext cx="377100" cy="377100"/>
          </a:xfrm>
          <a:prstGeom prst="ellipse">
            <a:avLst/>
          </a:prstGeom>
          <a:solidFill>
            <a:srgbClr val="E897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2" name="Google Shape;502;p36"/>
          <p:cNvSpPr txBox="1"/>
          <p:nvPr/>
        </p:nvSpPr>
        <p:spPr>
          <a:xfrm>
            <a:off x="547428" y="2445694"/>
            <a:ext cx="377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1100"/>
          </a:p>
        </p:txBody>
      </p:sp>
      <p:sp>
        <p:nvSpPr>
          <p:cNvPr id="503" name="Google Shape;503;p36"/>
          <p:cNvSpPr txBox="1"/>
          <p:nvPr/>
        </p:nvSpPr>
        <p:spPr>
          <a:xfrm>
            <a:off x="1041205" y="2301676"/>
            <a:ext cx="19887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Bitácora</a:t>
            </a:r>
            <a:endParaRPr sz="1100"/>
          </a:p>
        </p:txBody>
      </p:sp>
      <p:sp>
        <p:nvSpPr>
          <p:cNvPr id="504" name="Google Shape;504;p36"/>
          <p:cNvSpPr txBox="1"/>
          <p:nvPr/>
        </p:nvSpPr>
        <p:spPr>
          <a:xfrm>
            <a:off x="1041205" y="2596570"/>
            <a:ext cx="19887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Registrar avances y evidencia.</a:t>
            </a:r>
            <a:endParaRPr sz="1100"/>
          </a:p>
        </p:txBody>
      </p:sp>
      <p:sp>
        <p:nvSpPr>
          <p:cNvPr id="505" name="Google Shape;505;p36"/>
          <p:cNvSpPr/>
          <p:nvPr/>
        </p:nvSpPr>
        <p:spPr>
          <a:xfrm>
            <a:off x="541319" y="2929660"/>
            <a:ext cx="377100" cy="377100"/>
          </a:xfrm>
          <a:prstGeom prst="ellipse">
            <a:avLst/>
          </a:prstGeom>
          <a:solidFill>
            <a:srgbClr val="1D2E4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36"/>
          <p:cNvSpPr txBox="1"/>
          <p:nvPr/>
        </p:nvSpPr>
        <p:spPr>
          <a:xfrm>
            <a:off x="541319" y="2970807"/>
            <a:ext cx="377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1100"/>
          </a:p>
        </p:txBody>
      </p:sp>
      <p:sp>
        <p:nvSpPr>
          <p:cNvPr id="507" name="Google Shape;507;p36"/>
          <p:cNvSpPr txBox="1"/>
          <p:nvPr/>
        </p:nvSpPr>
        <p:spPr>
          <a:xfrm>
            <a:off x="1035095" y="2826789"/>
            <a:ext cx="19887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Revisión</a:t>
            </a:r>
            <a:endParaRPr sz="1100"/>
          </a:p>
        </p:txBody>
      </p:sp>
      <p:sp>
        <p:nvSpPr>
          <p:cNvPr id="508" name="Google Shape;508;p36"/>
          <p:cNvSpPr txBox="1"/>
          <p:nvPr/>
        </p:nvSpPr>
        <p:spPr>
          <a:xfrm>
            <a:off x="1035095" y="3121683"/>
            <a:ext cx="19887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Marcar “Lista” y aprobar/devolver.</a:t>
            </a:r>
            <a:endParaRPr sz="1100"/>
          </a:p>
        </p:txBody>
      </p:sp>
      <p:sp>
        <p:nvSpPr>
          <p:cNvPr id="509" name="Google Shape;509;p36"/>
          <p:cNvSpPr/>
          <p:nvPr/>
        </p:nvSpPr>
        <p:spPr>
          <a:xfrm>
            <a:off x="527591" y="3448519"/>
            <a:ext cx="377100" cy="377100"/>
          </a:xfrm>
          <a:prstGeom prst="ellipse">
            <a:avLst/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36"/>
          <p:cNvSpPr txBox="1"/>
          <p:nvPr/>
        </p:nvSpPr>
        <p:spPr>
          <a:xfrm>
            <a:off x="527591" y="3489667"/>
            <a:ext cx="377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1100"/>
          </a:p>
        </p:txBody>
      </p:sp>
      <p:sp>
        <p:nvSpPr>
          <p:cNvPr id="511" name="Google Shape;511;p36"/>
          <p:cNvSpPr txBox="1"/>
          <p:nvPr/>
        </p:nvSpPr>
        <p:spPr>
          <a:xfrm>
            <a:off x="1021367" y="3345649"/>
            <a:ext cx="19887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Monitoreo</a:t>
            </a:r>
            <a:endParaRPr sz="1100"/>
          </a:p>
        </p:txBody>
      </p:sp>
      <p:sp>
        <p:nvSpPr>
          <p:cNvPr id="512" name="Google Shape;512;p36"/>
          <p:cNvSpPr txBox="1"/>
          <p:nvPr/>
        </p:nvSpPr>
        <p:spPr>
          <a:xfrm>
            <a:off x="1021367" y="3640543"/>
            <a:ext cx="1988700" cy="22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Explorar mapa, KPIs e historial.</a:t>
            </a:r>
            <a:endParaRPr sz="1100"/>
          </a:p>
        </p:txBody>
      </p:sp>
      <p:sp>
        <p:nvSpPr>
          <p:cNvPr id="513" name="Google Shape;513;p36"/>
          <p:cNvSpPr/>
          <p:nvPr/>
        </p:nvSpPr>
        <p:spPr>
          <a:xfrm>
            <a:off x="527585" y="3972241"/>
            <a:ext cx="377100" cy="377100"/>
          </a:xfrm>
          <a:prstGeom prst="ellipse">
            <a:avLst/>
          </a:prstGeom>
          <a:solidFill>
            <a:srgbClr val="B042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36"/>
          <p:cNvSpPr txBox="1"/>
          <p:nvPr/>
        </p:nvSpPr>
        <p:spPr>
          <a:xfrm>
            <a:off x="527585" y="4013389"/>
            <a:ext cx="3771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100" b="1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 sz="1100"/>
          </a:p>
        </p:txBody>
      </p:sp>
      <p:sp>
        <p:nvSpPr>
          <p:cNvPr id="515" name="Google Shape;515;p36"/>
          <p:cNvSpPr txBox="1"/>
          <p:nvPr/>
        </p:nvSpPr>
        <p:spPr>
          <a:xfrm>
            <a:off x="1021361" y="3869371"/>
            <a:ext cx="1988700" cy="26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2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Seguridad</a:t>
            </a:r>
            <a:endParaRPr sz="1100"/>
          </a:p>
        </p:txBody>
      </p:sp>
      <p:sp>
        <p:nvSpPr>
          <p:cNvPr id="516" name="Google Shape;516;p36"/>
          <p:cNvSpPr txBox="1"/>
          <p:nvPr/>
        </p:nvSpPr>
        <p:spPr>
          <a:xfrm>
            <a:off x="1021361" y="4164265"/>
            <a:ext cx="1988700" cy="36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900" b="0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Validar permisos y bloqueo aprobado.</a:t>
            </a:r>
            <a:endParaRPr sz="1100"/>
          </a:p>
        </p:txBody>
      </p:sp>
      <p:pic>
        <p:nvPicPr>
          <p:cNvPr id="517" name="Google Shape;517;p36" descr="Vista de procesos - Ciclo de tareas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52169" y="789353"/>
            <a:ext cx="5035480" cy="401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518" name="Google Shape;518;p36" title="Imagen de ChatGPT 30 sept 2026, 06_16_02 a.m.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22025" y="270350"/>
            <a:ext cx="1078492" cy="3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6" name="Google Shape;526;p37"/>
          <p:cNvSpPr/>
          <p:nvPr/>
        </p:nvSpPr>
        <p:spPr>
          <a:xfrm>
            <a:off x="397763" y="1474470"/>
            <a:ext cx="509709" cy="2503170"/>
          </a:xfrm>
          <a:prstGeom prst="rect">
            <a:avLst/>
          </a:prstGeom>
          <a:solidFill>
            <a:srgbClr val="23825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0" name="Google Shape;530;p37"/>
          <p:cNvSpPr/>
          <p:nvPr/>
        </p:nvSpPr>
        <p:spPr>
          <a:xfrm>
            <a:off x="3175253" y="1474470"/>
            <a:ext cx="509709" cy="2503170"/>
          </a:xfrm>
          <a:prstGeom prst="rect">
            <a:avLst/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4" name="Google Shape;534;p37"/>
          <p:cNvSpPr/>
          <p:nvPr/>
        </p:nvSpPr>
        <p:spPr>
          <a:xfrm>
            <a:off x="5952743" y="1474470"/>
            <a:ext cx="509709" cy="2503170"/>
          </a:xfrm>
          <a:prstGeom prst="rect">
            <a:avLst/>
          </a:prstGeom>
          <a:solidFill>
            <a:srgbClr val="E897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0" name="Google Shape;540;p37"/>
          <p:cNvSpPr/>
          <p:nvPr/>
        </p:nvSpPr>
        <p:spPr>
          <a:xfrm>
            <a:off x="716836" y="4188900"/>
            <a:ext cx="392985" cy="730200"/>
          </a:xfrm>
          <a:prstGeom prst="rect">
            <a:avLst/>
          </a:prstGeom>
          <a:solidFill>
            <a:srgbClr val="23825F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2" name="Google Shape;542;p37"/>
          <p:cNvSpPr/>
          <p:nvPr/>
        </p:nvSpPr>
        <p:spPr>
          <a:xfrm>
            <a:off x="3531262" y="4188900"/>
            <a:ext cx="365113" cy="730200"/>
          </a:xfrm>
          <a:prstGeom prst="rect">
            <a:avLst/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37"/>
          <p:cNvSpPr/>
          <p:nvPr/>
        </p:nvSpPr>
        <p:spPr>
          <a:xfrm>
            <a:off x="6254800" y="4188900"/>
            <a:ext cx="401346" cy="730200"/>
          </a:xfrm>
          <a:prstGeom prst="rect">
            <a:avLst/>
          </a:prstGeom>
          <a:solidFill>
            <a:srgbClr val="E897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23" name="Google Shape;523;p37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37"/>
          <p:cNvSpPr txBox="1"/>
          <p:nvPr/>
        </p:nvSpPr>
        <p:spPr>
          <a:xfrm>
            <a:off x="445770" y="1062990"/>
            <a:ext cx="8229600" cy="2400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400" b="1">
                <a:solidFill>
                  <a:srgbClr val="203553"/>
                </a:solidFill>
                <a:latin typeface="Arial"/>
              </a:rPr>
              <a:t>Estado actual · TimeFlow V0.3.3</a:t>
            </a:r>
            <a:endParaRPr sz="1100"/>
          </a:p>
        </p:txBody>
      </p:sp>
      <p:sp>
        <p:nvSpPr>
          <p:cNvPr id="525" name="Google Shape;525;p37"/>
          <p:cNvSpPr/>
          <p:nvPr/>
        </p:nvSpPr>
        <p:spPr>
          <a:xfrm>
            <a:off x="514350" y="1474470"/>
            <a:ext cx="2537460" cy="25031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7" name="Google Shape;527;p37"/>
          <p:cNvSpPr txBox="1"/>
          <p:nvPr/>
        </p:nvSpPr>
        <p:spPr>
          <a:xfrm>
            <a:off x="637794" y="1556766"/>
            <a:ext cx="23316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203553"/>
                </a:solidFill>
                <a:latin typeface="Arial"/>
              </a:rPr>
              <a:t>Versión operativa</a:t>
            </a:r>
            <a:endParaRPr sz="1100"/>
          </a:p>
        </p:txBody>
      </p:sp>
      <p:sp>
        <p:nvSpPr>
          <p:cNvPr id="528" name="Google Shape;528;p37"/>
          <p:cNvSpPr txBox="1"/>
          <p:nvPr/>
        </p:nvSpPr>
        <p:spPr>
          <a:xfrm>
            <a:off x="637794" y="1831086"/>
            <a:ext cx="23181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222222"/>
                </a:solidFill>
                <a:latin typeface="Arial"/>
              </a:rPr>
              <a:t>React, Spring Boot y MySQL funcionan integrados. Login, roles, usuarios, tareas, mensajes y monitoreo están operativos.</a:t>
            </a:r>
            <a:endParaRPr sz="1100">
              <a:solidFill>
                <a:srgbClr val="232323"/>
              </a:solidFill>
            </a:endParaRPr>
          </a:p>
        </p:txBody>
      </p:sp>
      <p:sp>
        <p:nvSpPr>
          <p:cNvPr id="529" name="Google Shape;529;p37"/>
          <p:cNvSpPr/>
          <p:nvPr/>
        </p:nvSpPr>
        <p:spPr>
          <a:xfrm>
            <a:off x="3291840" y="1474470"/>
            <a:ext cx="2537460" cy="25031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1" name="Google Shape;531;p37"/>
          <p:cNvSpPr txBox="1"/>
          <p:nvPr/>
        </p:nvSpPr>
        <p:spPr>
          <a:xfrm>
            <a:off x="3415284" y="1556766"/>
            <a:ext cx="23316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203553"/>
                </a:solidFill>
                <a:latin typeface="Arial"/>
              </a:rPr>
              <a:t>Validación realizada</a:t>
            </a:r>
            <a:endParaRPr sz="1100"/>
          </a:p>
        </p:txBody>
      </p:sp>
      <p:sp>
        <p:nvSpPr>
          <p:cNvPr id="532" name="Google Shape;532;p37"/>
          <p:cNvSpPr txBox="1"/>
          <p:nvPr/>
        </p:nvSpPr>
        <p:spPr>
          <a:xfrm>
            <a:off x="3415284" y="1831086"/>
            <a:ext cx="2318100" cy="109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222222"/>
                </a:solidFill>
                <a:latin typeface="Arial"/>
              </a:rPr>
              <a:t>73 casos aprobados: 50 Postman, 12 JUnit/MockMvc y 11 pruebas funcionales. La regresión final quedó sin fallos.</a:t>
            </a:r>
            <a:endParaRPr sz="1100">
              <a:solidFill>
                <a:srgbClr val="232323"/>
              </a:solidFill>
            </a:endParaRPr>
          </a:p>
        </p:txBody>
      </p:sp>
      <p:sp>
        <p:nvSpPr>
          <p:cNvPr id="533" name="Google Shape;533;p37"/>
          <p:cNvSpPr/>
          <p:nvPr/>
        </p:nvSpPr>
        <p:spPr>
          <a:xfrm>
            <a:off x="6069330" y="1474470"/>
            <a:ext cx="2537460" cy="250317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5" name="Google Shape;535;p37"/>
          <p:cNvSpPr txBox="1"/>
          <p:nvPr/>
        </p:nvSpPr>
        <p:spPr>
          <a:xfrm>
            <a:off x="6192773" y="1556766"/>
            <a:ext cx="23316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203553"/>
                </a:solidFill>
                <a:latin typeface="Arial"/>
              </a:rPr>
              <a:t>Hallazgos cerrados</a:t>
            </a:r>
            <a:endParaRPr sz="1100"/>
          </a:p>
        </p:txBody>
      </p:sp>
      <p:sp>
        <p:nvSpPr>
          <p:cNvPr id="536" name="Google Shape;536;p37"/>
          <p:cNvSpPr txBox="1"/>
          <p:nvPr/>
        </p:nvSpPr>
        <p:spPr>
          <a:xfrm>
            <a:off x="6192773" y="1831086"/>
            <a:ext cx="2318100" cy="126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50" b="0">
                <a:solidFill>
                  <a:srgbClr val="222222"/>
                </a:solidFill>
                <a:latin typeface="Arial"/>
              </a:rPr>
              <a:t>BUG-001 a BUG-004 fueron corregidos y re-probados. No quedan fallos críticos o altos abiertos.</a:t>
            </a:r>
            <a:endParaRPr sz="1100">
              <a:solidFill>
                <a:srgbClr val="232323"/>
              </a:solidFill>
            </a:endParaRPr>
          </a:p>
        </p:txBody>
      </p:sp>
      <p:sp>
        <p:nvSpPr>
          <p:cNvPr id="537" name="Google Shape;537;p37"/>
          <p:cNvSpPr txBox="1"/>
          <p:nvPr/>
        </p:nvSpPr>
        <p:spPr>
          <a:xfrm>
            <a:off x="445770" y="809244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1800" b="1">
                <a:solidFill>
                  <a:srgbClr val="203553"/>
                </a:solidFill>
                <a:latin typeface="Arial"/>
              </a:rPr>
              <a:t>Resultados y nivel de madurez</a:t>
            </a:r>
            <a:endParaRPr sz="1100"/>
          </a:p>
        </p:txBody>
      </p:sp>
      <p:pic>
        <p:nvPicPr>
          <p:cNvPr id="538" name="Google Shape;538;p37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5" y="270350"/>
            <a:ext cx="1078492" cy="359675"/>
          </a:xfrm>
          <a:prstGeom prst="rect">
            <a:avLst/>
          </a:prstGeom>
          <a:noFill/>
          <a:ln>
            <a:noFill/>
          </a:ln>
        </p:spPr>
      </p:pic>
      <p:sp>
        <p:nvSpPr>
          <p:cNvPr id="539" name="Google Shape;539;p37"/>
          <p:cNvSpPr/>
          <p:nvPr/>
        </p:nvSpPr>
        <p:spPr>
          <a:xfrm>
            <a:off x="806725" y="4188900"/>
            <a:ext cx="1952700" cy="73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1" name="Google Shape;541;p37"/>
          <p:cNvSpPr/>
          <p:nvPr/>
        </p:nvSpPr>
        <p:spPr>
          <a:xfrm>
            <a:off x="3614775" y="4188900"/>
            <a:ext cx="1815300" cy="73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37"/>
          <p:cNvSpPr/>
          <p:nvPr/>
        </p:nvSpPr>
        <p:spPr>
          <a:xfrm>
            <a:off x="6346600" y="4188900"/>
            <a:ext cx="1997700" cy="7302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TextBox 544"/>
          <p:cNvSpPr txBox="1"/>
          <p:nvPr/>
        </p:nvSpPr>
        <p:spPr>
          <a:xfrm>
            <a:off x="804672" y="4215384"/>
            <a:ext cx="19568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03553"/>
                </a:solidFill>
                <a:latin typeface="Arial"/>
              </a:rPr>
              <a:t>73 / 73</a:t>
            </a:r>
          </a:p>
        </p:txBody>
      </p:sp>
      <p:sp>
        <p:nvSpPr>
          <p:cNvPr id="546" name="TextBox 545"/>
          <p:cNvSpPr txBox="1"/>
          <p:nvPr/>
        </p:nvSpPr>
        <p:spPr>
          <a:xfrm>
            <a:off x="804672" y="4498848"/>
            <a:ext cx="195681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>
                <a:solidFill>
                  <a:srgbClr val="5F6B78"/>
                </a:solidFill>
                <a:latin typeface="Arial"/>
              </a:rPr>
              <a:t>casos aprobados</a:t>
            </a:r>
          </a:p>
        </p:txBody>
      </p:sp>
      <p:sp>
        <p:nvSpPr>
          <p:cNvPr id="547" name="TextBox 546"/>
          <p:cNvSpPr txBox="1"/>
          <p:nvPr/>
        </p:nvSpPr>
        <p:spPr>
          <a:xfrm>
            <a:off x="3611880" y="4215384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03553"/>
                </a:solidFill>
                <a:latin typeface="Arial"/>
              </a:rPr>
              <a:t>V0.3.3</a:t>
            </a:r>
          </a:p>
        </p:txBody>
      </p:sp>
      <p:sp>
        <p:nvSpPr>
          <p:cNvPr id="548" name="TextBox 547"/>
          <p:cNvSpPr txBox="1"/>
          <p:nvPr/>
        </p:nvSpPr>
        <p:spPr>
          <a:xfrm>
            <a:off x="3611880" y="4498848"/>
            <a:ext cx="1819656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>
                <a:solidFill>
                  <a:srgbClr val="5F6B78"/>
                </a:solidFill>
                <a:latin typeface="Arial"/>
              </a:rPr>
              <a:t>versión actual</a:t>
            </a:r>
          </a:p>
        </p:txBody>
      </p:sp>
      <p:sp>
        <p:nvSpPr>
          <p:cNvPr id="549" name="TextBox 548"/>
          <p:cNvSpPr txBox="1"/>
          <p:nvPr/>
        </p:nvSpPr>
        <p:spPr>
          <a:xfrm>
            <a:off x="6345936" y="4215384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700" b="1">
                <a:solidFill>
                  <a:srgbClr val="203553"/>
                </a:solidFill>
                <a:latin typeface="Arial"/>
              </a:rPr>
              <a:t>S4–S6</a:t>
            </a:r>
          </a:p>
        </p:txBody>
      </p:sp>
      <p:sp>
        <p:nvSpPr>
          <p:cNvPr id="550" name="TextBox 549"/>
          <p:cNvSpPr txBox="1"/>
          <p:nvPr/>
        </p:nvSpPr>
        <p:spPr>
          <a:xfrm>
            <a:off x="6345936" y="4498848"/>
            <a:ext cx="1993392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869" b="0">
                <a:solidFill>
                  <a:srgbClr val="5F6B78"/>
                </a:solidFill>
                <a:latin typeface="Arial"/>
              </a:rPr>
              <a:t>seguridad, rendimiento y certificación</a:t>
            </a:r>
          </a:p>
        </p:txBody>
      </p:sp>
    </p:spTree>
  </p:cSld>
  <p:clrMapOvr>
    <a:masterClrMapping/>
  </p:clrMapOvr>
  <p:transition spd="slow">
    <p:fade thruBlk="1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38"/>
          <p:cNvSpPr/>
          <p:nvPr/>
        </p:nvSpPr>
        <p:spPr>
          <a:xfrm>
            <a:off x="452514" y="1371600"/>
            <a:ext cx="324380" cy="1179576"/>
          </a:xfrm>
          <a:prstGeom prst="rect">
            <a:avLst/>
          </a:prstGeom>
          <a:solidFill>
            <a:srgbClr val="E8972E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1" name="Google Shape;561;p38"/>
          <p:cNvSpPr/>
          <p:nvPr/>
        </p:nvSpPr>
        <p:spPr>
          <a:xfrm>
            <a:off x="4670184" y="1371600"/>
            <a:ext cx="324380" cy="1179576"/>
          </a:xfrm>
          <a:prstGeom prst="rect">
            <a:avLst/>
          </a:prstGeom>
          <a:solidFill>
            <a:srgbClr val="B04242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5" name="Google Shape;565;p38"/>
          <p:cNvSpPr/>
          <p:nvPr/>
        </p:nvSpPr>
        <p:spPr>
          <a:xfrm>
            <a:off x="452514" y="2846070"/>
            <a:ext cx="324380" cy="1179576"/>
          </a:xfrm>
          <a:prstGeom prst="rect">
            <a:avLst/>
          </a:prstGeom>
          <a:solidFill>
            <a:srgbClr val="1D2E46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9" name="Google Shape;569;p38"/>
          <p:cNvSpPr/>
          <p:nvPr/>
        </p:nvSpPr>
        <p:spPr>
          <a:xfrm>
            <a:off x="4670184" y="2846070"/>
            <a:ext cx="324380" cy="1179576"/>
          </a:xfrm>
          <a:prstGeom prst="rect">
            <a:avLst/>
          </a:prstGeom>
          <a:solidFill>
            <a:srgbClr val="385F91"/>
          </a:solidFill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55" name="Google Shape;555;p38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556" name="Google Shape;556;p38"/>
          <p:cNvSpPr/>
          <p:nvPr/>
        </p:nvSpPr>
        <p:spPr>
          <a:xfrm>
            <a:off x="548640" y="1371600"/>
            <a:ext cx="3874770" cy="11795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8" name="Google Shape;558;p38"/>
          <p:cNvSpPr txBox="1"/>
          <p:nvPr/>
        </p:nvSpPr>
        <p:spPr>
          <a:xfrm>
            <a:off x="672084" y="1453896"/>
            <a:ext cx="3669030" cy="233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b="1">
                <a:solidFill>
                  <a:srgbClr val="1D2E46"/>
                </a:solidFill>
                <a:latin typeface="Arial"/>
                <a:ea typeface="Arial"/>
                <a:cs typeface="Arial"/>
                <a:sym typeface="Arial"/>
              </a:rPr>
              <a:t>Integración acelerada</a:t>
            </a:r>
            <a:endParaRPr sz="1100"/>
          </a:p>
        </p:txBody>
      </p:sp>
      <p:sp>
        <p:nvSpPr>
          <p:cNvPr id="559" name="Google Shape;559;p38"/>
          <p:cNvSpPr txBox="1"/>
          <p:nvPr/>
        </p:nvSpPr>
        <p:spPr>
          <a:xfrm>
            <a:off x="672084" y="1728216"/>
            <a:ext cx="36552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232323"/>
                </a:solidFill>
              </a:rPr>
              <a:t>Parte del desarrollo se adelantó respecto de la planificación original, por lo que fue necesario reorganizar Sprint 2 y Sprint 3 para validar lo construido con evidencia.</a:t>
            </a:r>
            <a:endParaRPr sz="1000">
              <a:solidFill>
                <a:srgbClr val="232323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232323"/>
              </a:solidFill>
            </a:endParaRPr>
          </a:p>
        </p:txBody>
      </p:sp>
      <p:sp>
        <p:nvSpPr>
          <p:cNvPr id="560" name="Google Shape;560;p38"/>
          <p:cNvSpPr/>
          <p:nvPr/>
        </p:nvSpPr>
        <p:spPr>
          <a:xfrm>
            <a:off x="4766310" y="1371600"/>
            <a:ext cx="3874770" cy="11795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2" name="Google Shape;562;p38"/>
          <p:cNvSpPr txBox="1"/>
          <p:nvPr/>
        </p:nvSpPr>
        <p:spPr>
          <a:xfrm>
            <a:off x="4889754" y="1453896"/>
            <a:ext cx="36690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b="1">
                <a:solidFill>
                  <a:srgbClr val="1D2E46"/>
                </a:solidFill>
              </a:rPr>
              <a:t>Permisos solo visuales</a:t>
            </a:r>
            <a:endParaRPr sz="1100"/>
          </a:p>
        </p:txBody>
      </p:sp>
      <p:sp>
        <p:nvSpPr>
          <p:cNvPr id="563" name="Google Shape;563;p38"/>
          <p:cNvSpPr txBox="1"/>
          <p:nvPr/>
        </p:nvSpPr>
        <p:spPr>
          <a:xfrm>
            <a:off x="4889754" y="1728216"/>
            <a:ext cx="3655200" cy="54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232323"/>
                </a:solidFill>
              </a:rPr>
              <a:t>Se identificó el riesgo de proteger funciones solo ocultando botones en React. Se corrigió aplicando JWT y validación real de roles en Spring Boot.</a:t>
            </a:r>
            <a:endParaRPr sz="1000">
              <a:solidFill>
                <a:srgbClr val="232323"/>
              </a:solidFill>
            </a:endParaRPr>
          </a:p>
        </p:txBody>
      </p:sp>
      <p:sp>
        <p:nvSpPr>
          <p:cNvPr id="564" name="Google Shape;564;p38"/>
          <p:cNvSpPr/>
          <p:nvPr/>
        </p:nvSpPr>
        <p:spPr>
          <a:xfrm>
            <a:off x="548640" y="2846070"/>
            <a:ext cx="3874770" cy="11795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66" name="Google Shape;566;p38"/>
          <p:cNvSpPr txBox="1"/>
          <p:nvPr/>
        </p:nvSpPr>
        <p:spPr>
          <a:xfrm>
            <a:off x="672084" y="2928366"/>
            <a:ext cx="36690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300" b="1">
                <a:solidFill>
                  <a:srgbClr val="203553"/>
                </a:solidFill>
                <a:latin typeface="Arial"/>
              </a:rPr>
              <a:t>Bugs encontrados</a:t>
            </a:r>
            <a:endParaRPr sz="1100"/>
          </a:p>
        </p:txBody>
      </p:sp>
      <p:sp>
        <p:nvSpPr>
          <p:cNvPr id="567" name="Google Shape;567;p38"/>
          <p:cNvSpPr txBox="1"/>
          <p:nvPr/>
        </p:nvSpPr>
        <p:spPr>
          <a:xfrm>
            <a:off x="672084" y="3202686"/>
            <a:ext cx="36552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sz="1019" b="0">
                <a:solidFill>
                  <a:srgbClr val="222222"/>
                </a:solidFill>
                <a:latin typeface="Arial"/>
              </a:rPr>
              <a:t>Se detectaron respuestas incorrectas, pérdida de sesión al recargar y un parpadeo al guardar tareas. Los casos fueron corregidos y re-probados.</a:t>
            </a:r>
            <a:endParaRPr sz="1000">
              <a:solidFill>
                <a:srgbClr val="232323"/>
              </a:solidFill>
            </a:endParaRPr>
          </a:p>
        </p:txBody>
      </p:sp>
      <p:sp>
        <p:nvSpPr>
          <p:cNvPr id="568" name="Google Shape;568;p38"/>
          <p:cNvSpPr/>
          <p:nvPr/>
        </p:nvSpPr>
        <p:spPr>
          <a:xfrm>
            <a:off x="4766310" y="2846070"/>
            <a:ext cx="3874770" cy="1179576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25" cap="flat" cmpd="sng">
            <a:solidFill>
              <a:srgbClr val="D7DFE8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 spcFirstLastPara="1" wrap="square" lIns="68575" tIns="34275" rIns="68575" bIns="34275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70" name="Google Shape;570;p38"/>
          <p:cNvSpPr txBox="1"/>
          <p:nvPr/>
        </p:nvSpPr>
        <p:spPr>
          <a:xfrm>
            <a:off x="4889754" y="2928366"/>
            <a:ext cx="36690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b="1">
                <a:solidFill>
                  <a:srgbClr val="1D2E46"/>
                </a:solidFill>
              </a:rPr>
              <a:t>Calidad y seguimiento</a:t>
            </a:r>
            <a:endParaRPr sz="1100"/>
          </a:p>
        </p:txBody>
      </p:sp>
      <p:sp>
        <p:nvSpPr>
          <p:cNvPr id="571" name="Google Shape;571;p38"/>
          <p:cNvSpPr txBox="1"/>
          <p:nvPr/>
        </p:nvSpPr>
        <p:spPr>
          <a:xfrm>
            <a:off x="4889754" y="3202686"/>
            <a:ext cx="3655200" cy="69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>
                <a:solidFill>
                  <a:srgbClr val="232323"/>
                </a:solidFill>
              </a:rPr>
              <a:t>Fue necesario ordenar matriz de pruebas, colección Postman, registro de bugs y evidencias para evitar declarar como aceptadas funciones sin validación real.</a:t>
            </a:r>
            <a:endParaRPr sz="1000">
              <a:solidFill>
                <a:srgbClr val="232323"/>
              </a:solidFill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232323"/>
              </a:solidFill>
            </a:endParaRPr>
          </a:p>
        </p:txBody>
      </p:sp>
      <p:sp>
        <p:nvSpPr>
          <p:cNvPr id="572" name="Google Shape;572;p38"/>
          <p:cNvSpPr txBox="1"/>
          <p:nvPr/>
        </p:nvSpPr>
        <p:spPr>
          <a:xfrm>
            <a:off x="617220" y="4423410"/>
            <a:ext cx="7886700" cy="2057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5F6B78"/>
                </a:solidFill>
                <a:latin typeface="Arial"/>
              </a:rPr>
              <a:t>Respuesta del plan: Sprint 3 cerró la validación funcional; Sprints 4–6 quedan para seguridad, rendimiento y certificación.</a:t>
            </a:r>
            <a:endParaRPr sz="1100"/>
          </a:p>
        </p:txBody>
      </p:sp>
      <p:sp>
        <p:nvSpPr>
          <p:cNvPr id="573" name="Google Shape;573;p38"/>
          <p:cNvSpPr txBox="1"/>
          <p:nvPr/>
        </p:nvSpPr>
        <p:spPr>
          <a:xfrm>
            <a:off x="445770" y="809244"/>
            <a:ext cx="8229600" cy="329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800" b="1">
                <a:solidFill>
                  <a:srgbClr val="232323"/>
                </a:solidFill>
                <a:latin typeface="Arial"/>
                <a:ea typeface="Arial"/>
                <a:cs typeface="Arial"/>
                <a:sym typeface="Arial"/>
              </a:rPr>
              <a:t>Obstáculos presentados durante el desarrollo</a:t>
            </a:r>
            <a:endParaRPr sz="1100"/>
          </a:p>
        </p:txBody>
      </p:sp>
      <p:pic>
        <p:nvPicPr>
          <p:cNvPr id="574" name="Google Shape;574;p38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22025" y="270350"/>
            <a:ext cx="1078492" cy="3596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9" name="Google Shape;579;p39" descr="EscuelaIT Duoc UC - Escuela de Informática y Telecomunicaciones Duoc UC - Duoc  UC | LinkedIn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9114" y="155662"/>
            <a:ext cx="2356055" cy="589014"/>
          </a:xfrm>
          <a:prstGeom prst="rect">
            <a:avLst/>
          </a:prstGeom>
          <a:noFill/>
          <a:ln>
            <a:noFill/>
          </a:ln>
        </p:spPr>
      </p:pic>
      <p:sp>
        <p:nvSpPr>
          <p:cNvPr id="580" name="Google Shape;580;p39"/>
          <p:cNvSpPr txBox="1"/>
          <p:nvPr/>
        </p:nvSpPr>
        <p:spPr>
          <a:xfrm>
            <a:off x="2024690" y="4238349"/>
            <a:ext cx="49377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1150" tIns="41150" rIns="41150" bIns="4115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300" b="0">
                <a:solidFill>
                  <a:srgbClr val="646C74"/>
                </a:solidFill>
                <a:latin typeface="Arial"/>
                <a:ea typeface="Arial"/>
                <a:cs typeface="Arial"/>
                <a:sym typeface="Arial"/>
              </a:rPr>
              <a:t>Gracias por su atención</a:t>
            </a:r>
            <a:endParaRPr sz="1100"/>
          </a:p>
        </p:txBody>
      </p:sp>
      <p:pic>
        <p:nvPicPr>
          <p:cNvPr id="581" name="Google Shape;581;p39" title="Imagen de ChatGPT 30 sept 2026, 06_16_02 a.m.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38876" y="1967476"/>
            <a:ext cx="6309350" cy="21041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spd="slow">
    <p:fade thruBlk="1"/>
  </p:transition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1197</Words>
  <Application>Microsoft Office PowerPoint</Application>
  <PresentationFormat>Presentación en pantalla (16:9)</PresentationFormat>
  <Paragraphs>215</Paragraphs>
  <Slides>16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Simple Light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gabriel chamorro</cp:lastModifiedBy>
  <cp:revision>5</cp:revision>
  <dcterms:modified xsi:type="dcterms:W3CDTF">2026-10-19T05:31:09Z</dcterms:modified>
</cp:coreProperties>
</file>